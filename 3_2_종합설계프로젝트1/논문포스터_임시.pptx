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"/>
  </p:notesMasterIdLst>
  <p:sldIdLst>
    <p:sldId id="256" r:id="rId2"/>
    <p:sldId id="257" r:id="rId3"/>
    <p:sldId id="267" r:id="rId4"/>
    <p:sldId id="270" r:id="rId5"/>
    <p:sldId id="271" r:id="rId6"/>
    <p:sldId id="268" r:id="rId7"/>
    <p:sldId id="269" r:id="rId8"/>
    <p:sldId id="272" r:id="rId9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1619"/>
    <a:srgbClr val="6D1113"/>
    <a:srgbClr val="CA1F24"/>
    <a:srgbClr val="FFFFFF"/>
    <a:srgbClr val="052A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76" autoAdjust="0"/>
    <p:restoredTop sz="95167" autoAdjust="0"/>
  </p:normalViewPr>
  <p:slideViewPr>
    <p:cSldViewPr snapToGrid="0">
      <p:cViewPr varScale="1">
        <p:scale>
          <a:sx n="92" d="100"/>
          <a:sy n="92" d="100"/>
        </p:scale>
        <p:origin x="85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한글_간단히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조선백자</c:v>
                </c:pt>
                <c:pt idx="1">
                  <c:v>청화백자</c:v>
                </c:pt>
                <c:pt idx="2">
                  <c:v>철화백자</c:v>
                </c:pt>
                <c:pt idx="3">
                  <c:v>동화백자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0.20349999999999999</c:v>
                </c:pt>
                <c:pt idx="1">
                  <c:v>0.2046</c:v>
                </c:pt>
                <c:pt idx="2">
                  <c:v>0.2112</c:v>
                </c:pt>
                <c:pt idx="3">
                  <c:v>0.19550000000000001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9E-4F9E-9BBE-61254242E9D3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한글_자세히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조선백자</c:v>
                </c:pt>
                <c:pt idx="1">
                  <c:v>청화백자</c:v>
                </c:pt>
                <c:pt idx="2">
                  <c:v>철화백자</c:v>
                </c:pt>
                <c:pt idx="3">
                  <c:v>동화백자</c:v>
                </c:pt>
              </c:strCache>
            </c:strRef>
          </c:cat>
          <c:val>
            <c:numRef>
              <c:f>Sheet1!$B$3:$E$3</c:f>
              <c:numCache>
                <c:formatCode>General</c:formatCode>
                <c:ptCount val="4"/>
                <c:pt idx="0">
                  <c:v>0.2087</c:v>
                </c:pt>
                <c:pt idx="1">
                  <c:v>0.20649999999999999</c:v>
                </c:pt>
                <c:pt idx="2">
                  <c:v>0.20799999999999999</c:v>
                </c:pt>
                <c:pt idx="3">
                  <c:v>0.20880000000000001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29E-4F9E-9BBE-61254242E9D3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영어_간단히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조선백자</c:v>
                </c:pt>
                <c:pt idx="1">
                  <c:v>청화백자</c:v>
                </c:pt>
                <c:pt idx="2">
                  <c:v>철화백자</c:v>
                </c:pt>
                <c:pt idx="3">
                  <c:v>동화백자</c:v>
                </c:pt>
              </c:strCache>
            </c:strRef>
          </c:cat>
          <c:val>
            <c:numRef>
              <c:f>Sheet1!$B$4:$E$4</c:f>
              <c:numCache>
                <c:formatCode>General</c:formatCode>
                <c:ptCount val="4"/>
                <c:pt idx="0">
                  <c:v>0.32990000000000003</c:v>
                </c:pt>
                <c:pt idx="1">
                  <c:v>0.2467</c:v>
                </c:pt>
                <c:pt idx="2">
                  <c:v>0.27839999999999998</c:v>
                </c:pt>
                <c:pt idx="3">
                  <c:v>0.2611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29E-4F9E-9BBE-61254242E9D3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영어_자세히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조선백자</c:v>
                </c:pt>
                <c:pt idx="1">
                  <c:v>청화백자</c:v>
                </c:pt>
                <c:pt idx="2">
                  <c:v>철화백자</c:v>
                </c:pt>
                <c:pt idx="3">
                  <c:v>동화백자</c:v>
                </c:pt>
              </c:strCache>
            </c:strRef>
          </c:cat>
          <c:val>
            <c:numRef>
              <c:f>Sheet1!$B$5:$E$5</c:f>
              <c:numCache>
                <c:formatCode>General</c:formatCode>
                <c:ptCount val="4"/>
                <c:pt idx="0">
                  <c:v>0.37559999999999999</c:v>
                </c:pt>
                <c:pt idx="1">
                  <c:v>0.29120000000000001</c:v>
                </c:pt>
                <c:pt idx="2">
                  <c:v>0.3306</c:v>
                </c:pt>
                <c:pt idx="3">
                  <c:v>0.30830000000000002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29E-4F9E-9BBE-61254242E9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34546048"/>
        <c:axId val="834542688"/>
      </c:barChart>
      <c:catAx>
        <c:axId val="834546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  <a:cs typeface="+mn-cs"/>
              </a:defRPr>
            </a:pPr>
            <a:endParaRPr lang="ko-KR"/>
          </a:p>
        </c:txPr>
        <c:crossAx val="834542688"/>
        <c:crosses val="autoZero"/>
        <c:auto val="1"/>
        <c:lblAlgn val="ctr"/>
        <c:lblOffset val="100"/>
        <c:noMultiLvlLbl val="0"/>
      </c:catAx>
      <c:valAx>
        <c:axId val="834542688"/>
        <c:scaling>
          <c:orientation val="minMax"/>
          <c:min val="0.1500000000000000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  <a:cs typeface="+mn-cs"/>
              </a:defRPr>
            </a:pPr>
            <a:endParaRPr lang="ko-KR"/>
          </a:p>
        </c:txPr>
        <c:crossAx val="834546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나눔스퀘어OTF" panose="020B0600000101010101" pitchFamily="34" charset="-127"/>
              <a:ea typeface="나눔스퀘어OTF" panose="020B0600000101010101" pitchFamily="34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CF42B-5B83-45BF-BA1E-E6BE6F61E12E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08145E-4D12-430C-A078-B6F2E4748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8836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47716" rtl="0" eaLnBrk="1" latinLnBrk="1" hangingPunct="1">
      <a:defRPr sz="1113" kern="1200">
        <a:solidFill>
          <a:schemeClr val="tx1"/>
        </a:solidFill>
        <a:latin typeface="+mn-lt"/>
        <a:ea typeface="+mn-ea"/>
        <a:cs typeface="+mn-cs"/>
      </a:defRPr>
    </a:lvl1pPr>
    <a:lvl2pPr marL="423858" algn="l" defTabSz="847716" rtl="0" eaLnBrk="1" latinLnBrk="1" hangingPunct="1">
      <a:defRPr sz="1113" kern="1200">
        <a:solidFill>
          <a:schemeClr val="tx1"/>
        </a:solidFill>
        <a:latin typeface="+mn-lt"/>
        <a:ea typeface="+mn-ea"/>
        <a:cs typeface="+mn-cs"/>
      </a:defRPr>
    </a:lvl2pPr>
    <a:lvl3pPr marL="847716" algn="l" defTabSz="847716" rtl="0" eaLnBrk="1" latinLnBrk="1" hangingPunct="1">
      <a:defRPr sz="1113" kern="1200">
        <a:solidFill>
          <a:schemeClr val="tx1"/>
        </a:solidFill>
        <a:latin typeface="+mn-lt"/>
        <a:ea typeface="+mn-ea"/>
        <a:cs typeface="+mn-cs"/>
      </a:defRPr>
    </a:lvl3pPr>
    <a:lvl4pPr marL="1271573" algn="l" defTabSz="847716" rtl="0" eaLnBrk="1" latinLnBrk="1" hangingPunct="1">
      <a:defRPr sz="1113" kern="1200">
        <a:solidFill>
          <a:schemeClr val="tx1"/>
        </a:solidFill>
        <a:latin typeface="+mn-lt"/>
        <a:ea typeface="+mn-ea"/>
        <a:cs typeface="+mn-cs"/>
      </a:defRPr>
    </a:lvl4pPr>
    <a:lvl5pPr marL="1695432" algn="l" defTabSz="847716" rtl="0" eaLnBrk="1" latinLnBrk="1" hangingPunct="1">
      <a:defRPr sz="1113" kern="1200">
        <a:solidFill>
          <a:schemeClr val="tx1"/>
        </a:solidFill>
        <a:latin typeface="+mn-lt"/>
        <a:ea typeface="+mn-ea"/>
        <a:cs typeface="+mn-cs"/>
      </a:defRPr>
    </a:lvl5pPr>
    <a:lvl6pPr marL="2119289" algn="l" defTabSz="847716" rtl="0" eaLnBrk="1" latinLnBrk="1" hangingPunct="1">
      <a:defRPr sz="1113" kern="1200">
        <a:solidFill>
          <a:schemeClr val="tx1"/>
        </a:solidFill>
        <a:latin typeface="+mn-lt"/>
        <a:ea typeface="+mn-ea"/>
        <a:cs typeface="+mn-cs"/>
      </a:defRPr>
    </a:lvl6pPr>
    <a:lvl7pPr marL="2543147" algn="l" defTabSz="847716" rtl="0" eaLnBrk="1" latinLnBrk="1" hangingPunct="1">
      <a:defRPr sz="1113" kern="1200">
        <a:solidFill>
          <a:schemeClr val="tx1"/>
        </a:solidFill>
        <a:latin typeface="+mn-lt"/>
        <a:ea typeface="+mn-ea"/>
        <a:cs typeface="+mn-cs"/>
      </a:defRPr>
    </a:lvl7pPr>
    <a:lvl8pPr marL="2967006" algn="l" defTabSz="847716" rtl="0" eaLnBrk="1" latinLnBrk="1" hangingPunct="1">
      <a:defRPr sz="1113" kern="1200">
        <a:solidFill>
          <a:schemeClr val="tx1"/>
        </a:solidFill>
        <a:latin typeface="+mn-lt"/>
        <a:ea typeface="+mn-ea"/>
        <a:cs typeface="+mn-cs"/>
      </a:defRPr>
    </a:lvl8pPr>
    <a:lvl9pPr marL="3390863" algn="l" defTabSz="847716" rtl="0" eaLnBrk="1" latinLnBrk="1" hangingPunct="1">
      <a:defRPr sz="111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제목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8145E-4D12-430C-A078-B6F2E4748D0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279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서론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8145E-4D12-430C-A078-B6F2E4748D0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23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601A2-BDFD-5E55-71EC-199701454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A971EDB-B83E-E921-CC46-161FE827C4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3C399A9-1482-5B68-D59B-D779E65F92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제시하는 프레임워크 </a:t>
            </a:r>
            <a:r>
              <a:rPr lang="en-US" altLang="ko-KR" dirty="0"/>
              <a:t>-3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D4F2C3-6205-AB7D-7270-C420D0889E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8145E-4D12-430C-A078-B6F2E4748D0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0519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47418-1BED-173B-A6F9-4552DF587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104886-5196-C91E-FA72-7BFF716C50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F48A1DC-2D76-FA72-CF00-B8509F5DDE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실험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AD5974-BF15-852B-13E8-4EBC5ABB74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8145E-4D12-430C-A078-B6F2E4748D0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1208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DBF1F-40FC-F658-B343-6962A9E1F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36601B1-0BA0-7A96-02A4-2C7BAD6ED4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A99AEBE-F986-3A22-9D2A-FF8A84C3E2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실험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2CF847-B7D0-0C79-6116-BB1BE87BC6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8145E-4D12-430C-A078-B6F2E4748D0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2912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14CA7-6BA1-EFA2-8185-C02518D59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F6C973-B104-AC7C-CD6D-8FAB0E220C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41018C9-0F73-6438-707B-51A70D80EE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한계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79DD51-8DB0-5D8F-6C42-B1C513CAC4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8145E-4D12-430C-A078-B6F2E4748D0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34109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5BDB6-4422-CE2F-F112-4ADA31215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CA461C8-B457-6762-3BB4-D59ECFB828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5AD851-180C-7AE2-5BA1-076AC7272D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결론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EC0068-72A7-EAB3-1F37-FDED1C0733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8145E-4D12-430C-A078-B6F2E4748D0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4870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C41B5-117B-4964-A8CD-264FBA70A67B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4493-EAB2-4194-B336-C51CBF883E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5976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C41B5-117B-4964-A8CD-264FBA70A67B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4493-EAB2-4194-B336-C51CBF883E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1912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C41B5-117B-4964-A8CD-264FBA70A67B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4493-EAB2-4194-B336-C51CBF883E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1673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C41B5-117B-4964-A8CD-264FBA70A67B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4493-EAB2-4194-B336-C51CBF883E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0349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C41B5-117B-4964-A8CD-264FBA70A67B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4493-EAB2-4194-B336-C51CBF883E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1693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C41B5-117B-4964-A8CD-264FBA70A67B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4493-EAB2-4194-B336-C51CBF883E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694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C41B5-117B-4964-A8CD-264FBA70A67B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4493-EAB2-4194-B336-C51CBF883E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6690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C41B5-117B-4964-A8CD-264FBA70A67B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4493-EAB2-4194-B336-C51CBF883E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5068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C41B5-117B-4964-A8CD-264FBA70A67B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4493-EAB2-4194-B336-C51CBF883E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0843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C41B5-117B-4964-A8CD-264FBA70A67B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4493-EAB2-4194-B336-C51CBF883E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7833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C41B5-117B-4964-A8CD-264FBA70A67B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4493-EAB2-4194-B336-C51CBF883E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8336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9C41B5-117B-4964-A8CD-264FBA70A67B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494493-EAB2-4194-B336-C51CBF883E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8541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5799F2B7-4D9C-73B1-9D4B-A8D740336B07}"/>
              </a:ext>
            </a:extLst>
          </p:cNvPr>
          <p:cNvSpPr/>
          <p:nvPr/>
        </p:nvSpPr>
        <p:spPr>
          <a:xfrm>
            <a:off x="390849" y="1494243"/>
            <a:ext cx="9124301" cy="467559"/>
          </a:xfrm>
          <a:prstGeom prst="rect">
            <a:avLst/>
          </a:prstGeom>
          <a:solidFill>
            <a:srgbClr val="8C161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01) </a:t>
            </a:r>
            <a:r>
              <a:rPr lang="ko-KR" altLang="en-US" sz="24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서론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D480BDCC-0C36-DDAF-C841-6B21D59E5500}"/>
              </a:ext>
            </a:extLst>
          </p:cNvPr>
          <p:cNvSpPr txBox="1">
            <a:spLocks/>
          </p:cNvSpPr>
          <p:nvPr/>
        </p:nvSpPr>
        <p:spPr>
          <a:xfrm>
            <a:off x="0" y="124695"/>
            <a:ext cx="9906000" cy="834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base" latinLnBrk="0"/>
            <a:r>
              <a:rPr lang="en-US" altLang="ko-KR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YOLOv8</a:t>
            </a:r>
            <a:r>
              <a:rPr lang="ko-KR" altLang="en-US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과 </a:t>
            </a:r>
            <a:r>
              <a:rPr lang="en-US" altLang="ko-KR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CLIP</a:t>
            </a:r>
            <a:r>
              <a:rPr lang="ko-KR" altLang="en-US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을 이용한 한국 전통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371773-46DD-7655-9C87-843E7B12064A}"/>
              </a:ext>
            </a:extLst>
          </p:cNvPr>
          <p:cNvSpPr txBox="1"/>
          <p:nvPr/>
        </p:nvSpPr>
        <p:spPr>
          <a:xfrm>
            <a:off x="268777" y="983994"/>
            <a:ext cx="93684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ea typeface="나눔스퀘어" panose="020B0600000101010101"/>
              </a:rPr>
              <a:t>경북대학교 컴퓨터학부</a:t>
            </a:r>
            <a:endParaRPr lang="ko-KR" altLang="en-US" sz="1400" dirty="0">
              <a:ea typeface="나눔스퀘어" panose="020B0600000101010101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72A84A3-8825-A1F0-3256-D9663B9DAFCA}"/>
              </a:ext>
            </a:extLst>
          </p:cNvPr>
          <p:cNvCxnSpPr>
            <a:cxnSpLocks/>
          </p:cNvCxnSpPr>
          <p:nvPr/>
        </p:nvCxnSpPr>
        <p:spPr>
          <a:xfrm>
            <a:off x="390849" y="1364726"/>
            <a:ext cx="9124301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A86CABC5-5951-0125-1629-2EE1682AA3E4}"/>
              </a:ext>
            </a:extLst>
          </p:cNvPr>
          <p:cNvSpPr txBox="1">
            <a:spLocks/>
          </p:cNvSpPr>
          <p:nvPr/>
        </p:nvSpPr>
        <p:spPr>
          <a:xfrm>
            <a:off x="837821" y="4299276"/>
            <a:ext cx="8230356" cy="23879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ko-KR" altLang="en-US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한국의 전통 도자기는 시대적</a:t>
            </a:r>
            <a:r>
              <a:rPr lang="en-US" altLang="ko-KR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문화적 특징을 반영하는 중요한 유물로</a:t>
            </a:r>
            <a:r>
              <a:rPr lang="en-US" altLang="ko-KR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형태나 문양의 세부 특징을 통해 제작 시기와 역사적 배경을 추정할 수 있다</a:t>
            </a:r>
            <a:r>
              <a:rPr lang="en-US" altLang="ko-KR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lang="ko-KR" altLang="en-US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최근 인공지능과 함께 객체 인식 모델이 발전함에 따라</a:t>
            </a:r>
            <a:r>
              <a:rPr lang="en-US" altLang="ko-KR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문화유산의 범주에서도 인공지능을 활용한 연구가 이루어지고 있다</a:t>
            </a:r>
            <a:r>
              <a:rPr lang="en-US" altLang="ko-KR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  <a:r>
              <a:rPr lang="ko-KR" altLang="en-US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그러나 시각적 패턴이 복잡한 도자기 유물에 대한 </a:t>
            </a:r>
            <a:r>
              <a:rPr lang="en-US" altLang="ko-KR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500" spc="-117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세분류</a:t>
            </a:r>
            <a:r>
              <a:rPr lang="ko-KR" altLang="en-US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연구는 상대적으로 부족한데</a:t>
            </a:r>
            <a:r>
              <a:rPr lang="en-US" altLang="ko-KR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  <a:r>
              <a:rPr lang="ko-KR" altLang="en-US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1500" spc="-117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>
              <a:lnSpc>
                <a:spcPct val="100000"/>
              </a:lnSpc>
            </a:pPr>
            <a:r>
              <a:rPr lang="ko-KR" altLang="en-US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이에 객체 인식 모델 중 실시간 객체 탐지에서 나은 성능을 보이는 </a:t>
            </a:r>
            <a:r>
              <a:rPr lang="en-US" altLang="ko-KR" sz="1500" b="1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YOLO(You Only Look Once) </a:t>
            </a:r>
            <a:r>
              <a:rPr lang="ko-KR" altLang="en-US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모델</a:t>
            </a:r>
            <a:r>
              <a:rPr lang="en-US" altLang="ko-KR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시각</a:t>
            </a:r>
            <a:r>
              <a:rPr lang="en-US" altLang="ko-KR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</a:t>
            </a:r>
            <a:r>
              <a:rPr lang="ko-KR" altLang="en-US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언어 결합 학습에서 좋은 성능을 보이는 </a:t>
            </a:r>
            <a:r>
              <a:rPr lang="en-US" altLang="ko-KR" sz="1500" b="1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CLIP (Contrastive Language-Image Pre-training)</a:t>
            </a:r>
            <a:r>
              <a:rPr lang="ko-KR" altLang="en-US" sz="1500" b="1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모델을 결합한 도자기 인식</a:t>
            </a:r>
            <a:r>
              <a:rPr lang="en-US" altLang="ko-KR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</a:t>
            </a:r>
            <a:r>
              <a:rPr lang="ko-KR" altLang="en-US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분류 프레임워크를 제안한다</a:t>
            </a:r>
            <a:r>
              <a:rPr lang="en-US" altLang="ko-KR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pic>
        <p:nvPicPr>
          <p:cNvPr id="28" name="그림 27" descr="도기류, 도기, 항아리, 꽃병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505C45F-AC44-7EA0-19D8-206F65C5AC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797" y="2249483"/>
            <a:ext cx="2377422" cy="15826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9" name="그림 28" descr="꽃병, 도자기 용품, 도기류, 도자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4F58CEE-71B6-9E79-FAD2-AB999033AD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16"/>
          <a:stretch>
            <a:fillRect/>
          </a:stretch>
        </p:blipFill>
        <p:spPr>
          <a:xfrm>
            <a:off x="6239312" y="2169996"/>
            <a:ext cx="1277156" cy="17416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18740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D6CB043-186F-CAA3-35FD-3BEF18DDFE50}"/>
              </a:ext>
            </a:extLst>
          </p:cNvPr>
          <p:cNvSpPr txBox="1">
            <a:spLocks/>
          </p:cNvSpPr>
          <p:nvPr/>
        </p:nvSpPr>
        <p:spPr>
          <a:xfrm>
            <a:off x="0" y="124695"/>
            <a:ext cx="9906000" cy="834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base" latinLnBrk="0"/>
            <a:r>
              <a:rPr lang="ko-KR" altLang="en-US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도자기 인식 및 분류 프레임워크 연구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9C94857-899A-A048-CD40-B3FF7CC9E444}"/>
              </a:ext>
            </a:extLst>
          </p:cNvPr>
          <p:cNvCxnSpPr>
            <a:cxnSpLocks/>
          </p:cNvCxnSpPr>
          <p:nvPr/>
        </p:nvCxnSpPr>
        <p:spPr>
          <a:xfrm>
            <a:off x="390849" y="1364726"/>
            <a:ext cx="9124301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1567851-67FE-5785-F76A-A9A4C6C9E5E7}"/>
              </a:ext>
            </a:extLst>
          </p:cNvPr>
          <p:cNvSpPr txBox="1"/>
          <p:nvPr/>
        </p:nvSpPr>
        <p:spPr>
          <a:xfrm>
            <a:off x="268777" y="983994"/>
            <a:ext cx="93684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400" dirty="0">
                <a:ea typeface="나눔스퀘어" panose="020B0600000101010101"/>
              </a:rPr>
              <a:t>표수현</a:t>
            </a:r>
            <a:r>
              <a:rPr lang="en-US" altLang="ko-KR" sz="1400" dirty="0">
                <a:ea typeface="나눔스퀘어" panose="020B0600000101010101"/>
              </a:rPr>
              <a:t>, </a:t>
            </a:r>
            <a:r>
              <a:rPr lang="ko-KR" altLang="en-US" sz="1400" dirty="0" err="1">
                <a:ea typeface="나눔스퀘어" panose="020B0600000101010101"/>
              </a:rPr>
              <a:t>황영하</a:t>
            </a:r>
            <a:r>
              <a:rPr lang="en-US" altLang="ko-KR" sz="1400" dirty="0">
                <a:ea typeface="나눔스퀘어" panose="020B0600000101010101"/>
              </a:rPr>
              <a:t>, </a:t>
            </a:r>
            <a:r>
              <a:rPr lang="ko-KR" altLang="en-US" sz="1400" dirty="0" err="1">
                <a:ea typeface="나눔스퀘어" panose="020B0600000101010101"/>
              </a:rPr>
              <a:t>최동언</a:t>
            </a:r>
            <a:r>
              <a:rPr lang="en-US" altLang="ko-KR" sz="1400" dirty="0">
                <a:ea typeface="나눔스퀘어" panose="020B0600000101010101"/>
              </a:rPr>
              <a:t>, </a:t>
            </a:r>
            <a:r>
              <a:rPr lang="ko-KR" altLang="en-US" sz="1400" dirty="0" err="1">
                <a:ea typeface="나눔스퀘어" panose="020B0600000101010101"/>
              </a:rPr>
              <a:t>권용재</a:t>
            </a:r>
            <a:r>
              <a:rPr lang="en-US" altLang="ko-KR" sz="1400" dirty="0">
                <a:ea typeface="나눔스퀘어" panose="020B0600000101010101"/>
              </a:rPr>
              <a:t>, </a:t>
            </a:r>
            <a:r>
              <a:rPr lang="ko-KR" altLang="en-US" sz="1400" dirty="0" err="1">
                <a:ea typeface="나눔스퀘어" panose="020B0600000101010101"/>
              </a:rPr>
              <a:t>강주호</a:t>
            </a:r>
            <a:r>
              <a:rPr lang="en-US" altLang="ko-KR" sz="1400" dirty="0">
                <a:ea typeface="나눔스퀘어" panose="020B0600000101010101"/>
              </a:rPr>
              <a:t>, </a:t>
            </a:r>
            <a:r>
              <a:rPr lang="ko-KR" altLang="en-US" sz="1400" dirty="0" err="1">
                <a:ea typeface="나눔스퀘어" panose="020B0600000101010101"/>
              </a:rPr>
              <a:t>백호기</a:t>
            </a:r>
            <a:r>
              <a:rPr lang="ko-KR" altLang="en-US" sz="1400" dirty="0">
                <a:ea typeface="나눔스퀘어" panose="020B0600000101010101"/>
              </a:rPr>
              <a:t> 교수</a:t>
            </a:r>
          </a:p>
        </p:txBody>
      </p:sp>
      <p:sp>
        <p:nvSpPr>
          <p:cNvPr id="33" name="내용 개체 틀 2">
            <a:extLst>
              <a:ext uri="{FF2B5EF4-FFF2-40B4-BE49-F238E27FC236}">
                <a16:creationId xmlns:a16="http://schemas.microsoft.com/office/drawing/2014/main" id="{D9CBF9B2-5DFD-8E35-3A13-B5055C5FEF2F}"/>
              </a:ext>
            </a:extLst>
          </p:cNvPr>
          <p:cNvSpPr txBox="1">
            <a:spLocks/>
          </p:cNvSpPr>
          <p:nvPr/>
        </p:nvSpPr>
        <p:spPr>
          <a:xfrm>
            <a:off x="3947817" y="2521388"/>
            <a:ext cx="4205806" cy="1514476"/>
          </a:xfrm>
          <a:prstGeom prst="rect">
            <a:avLst/>
          </a:prstGeom>
        </p:spPr>
        <p:txBody>
          <a:bodyPr vert="horz" lIns="71568" tIns="35785" rIns="71568" bIns="35785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2400" b="1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1. YOLOv8 </a:t>
            </a:r>
            <a:r>
              <a:rPr lang="ko-KR" altLang="en-US" sz="2400" b="1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도자기 객체 인식</a:t>
            </a:r>
            <a:endParaRPr lang="en-US" altLang="ko-KR" sz="2400" b="1" spc="-117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도자기 데이터셋을 학습시킨 </a:t>
            </a:r>
            <a:r>
              <a:rPr lang="en-US" altLang="ko-KR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YOLO</a:t>
            </a:r>
            <a:r>
              <a:rPr lang="ko-KR" altLang="en-US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를 사용해 이미지에서 인식된 도자기의 </a:t>
            </a:r>
            <a:r>
              <a:rPr lang="en-US" altLang="ko-KR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Bounding box</a:t>
            </a:r>
            <a:r>
              <a:rPr lang="ko-KR" altLang="en-US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만큼을 </a:t>
            </a:r>
            <a:r>
              <a:rPr lang="en-US" altLang="ko-KR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crop</a:t>
            </a:r>
          </a:p>
        </p:txBody>
      </p: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A16014C0-4F68-722E-04C4-E31907BC430E}"/>
              </a:ext>
            </a:extLst>
          </p:cNvPr>
          <p:cNvSpPr/>
          <p:nvPr/>
        </p:nvSpPr>
        <p:spPr>
          <a:xfrm>
            <a:off x="4040420" y="2187093"/>
            <a:ext cx="3892559" cy="285385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10"/>
          </a:p>
        </p:txBody>
      </p:sp>
      <p:sp>
        <p:nvSpPr>
          <p:cNvPr id="36" name="내용 개체 틀 2">
            <a:extLst>
              <a:ext uri="{FF2B5EF4-FFF2-40B4-BE49-F238E27FC236}">
                <a16:creationId xmlns:a16="http://schemas.microsoft.com/office/drawing/2014/main" id="{3FF9EAA1-AD63-A48B-638D-074A9D0BA89F}"/>
              </a:ext>
            </a:extLst>
          </p:cNvPr>
          <p:cNvSpPr txBox="1">
            <a:spLocks/>
          </p:cNvSpPr>
          <p:nvPr/>
        </p:nvSpPr>
        <p:spPr>
          <a:xfrm>
            <a:off x="3716863" y="4696524"/>
            <a:ext cx="4539671" cy="1745618"/>
          </a:xfrm>
          <a:prstGeom prst="rect">
            <a:avLst/>
          </a:prstGeom>
        </p:spPr>
        <p:txBody>
          <a:bodyPr vert="horz" lIns="71568" tIns="35785" rIns="71568" bIns="35785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2400" b="1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2. CLIP</a:t>
            </a:r>
            <a:r>
              <a:rPr lang="ko-KR" altLang="en-US" sz="2400" b="1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400" b="1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2400" b="1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차 분류</a:t>
            </a:r>
            <a:endParaRPr lang="en-US" altLang="ko-KR" sz="2400" b="1" spc="-117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177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[celadon, </a:t>
            </a:r>
            <a:r>
              <a:rPr lang="en-US" altLang="ko-KR" sz="1700" spc="-117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white_porcelain</a:t>
            </a:r>
            <a:r>
              <a:rPr lang="en-US" altLang="ko-KR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en-US" altLang="ko-KR" sz="1700" spc="-117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other_pottery</a:t>
            </a:r>
            <a:r>
              <a:rPr lang="en-US" altLang="ko-KR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도자기 데이터셋을 학습시킨 </a:t>
            </a:r>
            <a:r>
              <a:rPr lang="en-US" altLang="ko-KR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CLIP</a:t>
            </a:r>
            <a:r>
              <a:rPr lang="ko-KR" altLang="en-US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을 사용해</a:t>
            </a:r>
            <a:endParaRPr lang="en-US" altLang="ko-KR" sz="1700" spc="-117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청자</a:t>
            </a:r>
            <a:r>
              <a:rPr lang="en-US" altLang="ko-KR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백자</a:t>
            </a:r>
            <a:r>
              <a:rPr lang="en-US" altLang="ko-KR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기타 세 </a:t>
            </a:r>
            <a:r>
              <a:rPr lang="ko-KR" altLang="en-US" sz="1700" spc="-117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카테고리중</a:t>
            </a:r>
            <a:r>
              <a:rPr lang="ko-KR" altLang="en-US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하나로 </a:t>
            </a:r>
            <a:r>
              <a:rPr lang="en-US" altLang="ko-KR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차 분류</a:t>
            </a:r>
            <a:endParaRPr lang="en-US" altLang="ko-KR" sz="1700" spc="-117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E52A180D-DC69-A58A-719B-FAA802C53D84}"/>
              </a:ext>
            </a:extLst>
          </p:cNvPr>
          <p:cNvGrpSpPr/>
          <p:nvPr/>
        </p:nvGrpSpPr>
        <p:grpSpPr>
          <a:xfrm>
            <a:off x="1531733" y="4687457"/>
            <a:ext cx="1961168" cy="1841478"/>
            <a:chOff x="1945193" y="4712708"/>
            <a:chExt cx="1961168" cy="1841478"/>
          </a:xfrm>
        </p:grpSpPr>
        <p:pic>
          <p:nvPicPr>
            <p:cNvPr id="35" name="그림 34" descr="도기류, 도기, 도자기, 피처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F62E7BC-6E2E-5962-8CF0-9D371B88D0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89448" y="4712708"/>
              <a:ext cx="872658" cy="151448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37" name="내용 개체 틀 2">
              <a:extLst>
                <a:ext uri="{FF2B5EF4-FFF2-40B4-BE49-F238E27FC236}">
                  <a16:creationId xmlns:a16="http://schemas.microsoft.com/office/drawing/2014/main" id="{8DEC6C3E-3A02-6ADB-BD47-67BBC405BB23}"/>
                </a:ext>
              </a:extLst>
            </p:cNvPr>
            <p:cNvSpPr txBox="1">
              <a:spLocks/>
            </p:cNvSpPr>
            <p:nvPr/>
          </p:nvSpPr>
          <p:spPr>
            <a:xfrm>
              <a:off x="1945193" y="6295102"/>
              <a:ext cx="1961168" cy="259084"/>
            </a:xfrm>
            <a:prstGeom prst="rect">
              <a:avLst/>
            </a:prstGeom>
          </p:spPr>
          <p:txBody>
            <a:bodyPr vert="horz" lIns="71568" tIns="35785" rIns="71568" bIns="35785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ko-KR" altLang="en-US" sz="1450" spc="-117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분류 결과 </a:t>
              </a:r>
              <a:r>
                <a:rPr lang="en-US" altLang="ko-KR" sz="1450" spc="-117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: [celadon]</a:t>
              </a:r>
            </a:p>
          </p:txBody>
        </p:sp>
      </p:grp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B1170B3B-540A-5995-6E4E-99AD01D787A0}"/>
              </a:ext>
            </a:extLst>
          </p:cNvPr>
          <p:cNvCxnSpPr>
            <a:cxnSpLocks/>
          </p:cNvCxnSpPr>
          <p:nvPr/>
        </p:nvCxnSpPr>
        <p:spPr>
          <a:xfrm>
            <a:off x="781699" y="4336612"/>
            <a:ext cx="9124301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29B6F4ED-1CFB-B857-B0A6-8CB44A775B0B}"/>
              </a:ext>
            </a:extLst>
          </p:cNvPr>
          <p:cNvGrpSpPr/>
          <p:nvPr/>
        </p:nvGrpSpPr>
        <p:grpSpPr>
          <a:xfrm>
            <a:off x="390849" y="2203922"/>
            <a:ext cx="3244850" cy="1950203"/>
            <a:chOff x="390849" y="2064334"/>
            <a:chExt cx="3244850" cy="1950203"/>
          </a:xfrm>
        </p:grpSpPr>
        <p:pic>
          <p:nvPicPr>
            <p:cNvPr id="31" name="내용 개체 틀 6" descr="사람, 의류, 인간의 얼굴, 도기류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E17B0BE9-7A8E-95BE-4068-5AA4D5CC6D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7768"/>
            <a:stretch>
              <a:fillRect/>
            </a:stretch>
          </p:blipFill>
          <p:spPr>
            <a:xfrm>
              <a:off x="390849" y="2064334"/>
              <a:ext cx="3244850" cy="151447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39" name="내용 개체 틀 2">
              <a:extLst>
                <a:ext uri="{FF2B5EF4-FFF2-40B4-BE49-F238E27FC236}">
                  <a16:creationId xmlns:a16="http://schemas.microsoft.com/office/drawing/2014/main" id="{6DE25F07-511D-F0D8-DAE0-F718A9DCDD94}"/>
                </a:ext>
              </a:extLst>
            </p:cNvPr>
            <p:cNvSpPr txBox="1">
              <a:spLocks/>
            </p:cNvSpPr>
            <p:nvPr/>
          </p:nvSpPr>
          <p:spPr>
            <a:xfrm>
              <a:off x="1264504" y="3663689"/>
              <a:ext cx="1497539" cy="350848"/>
            </a:xfrm>
            <a:prstGeom prst="rect">
              <a:avLst/>
            </a:prstGeom>
          </p:spPr>
          <p:txBody>
            <a:bodyPr vert="horz" lIns="71568" tIns="35785" rIns="71568" bIns="35785" rtlCol="0">
              <a:norm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n-US" altLang="ko-KR" sz="1452" spc="-117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[</a:t>
              </a:r>
              <a:r>
                <a:rPr lang="ko-KR" altLang="en-US" sz="1452" spc="-117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예시 입력 이미지</a:t>
              </a:r>
              <a:r>
                <a:rPr lang="en-US" altLang="ko-KR" sz="1452" spc="-117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]</a:t>
              </a: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BA422F4C-7AA8-DA17-B97F-F705984C23B3}"/>
              </a:ext>
            </a:extLst>
          </p:cNvPr>
          <p:cNvGrpSpPr/>
          <p:nvPr/>
        </p:nvGrpSpPr>
        <p:grpSpPr>
          <a:xfrm>
            <a:off x="7932979" y="2135767"/>
            <a:ext cx="1755234" cy="1868444"/>
            <a:chOff x="7932979" y="2064887"/>
            <a:chExt cx="1755234" cy="1868444"/>
          </a:xfrm>
        </p:grpSpPr>
        <p:pic>
          <p:nvPicPr>
            <p:cNvPr id="32" name="그림 31" descr="도기류, 도기, 도자기, 피처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D592D1C0-1817-6800-C273-887C54AB65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74267" y="2064887"/>
              <a:ext cx="872658" cy="151448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40" name="내용 개체 틀 2">
              <a:extLst>
                <a:ext uri="{FF2B5EF4-FFF2-40B4-BE49-F238E27FC236}">
                  <a16:creationId xmlns:a16="http://schemas.microsoft.com/office/drawing/2014/main" id="{EB94011B-4C43-D291-9DFC-818D4B03B46A}"/>
                </a:ext>
              </a:extLst>
            </p:cNvPr>
            <p:cNvSpPr txBox="1">
              <a:spLocks/>
            </p:cNvSpPr>
            <p:nvPr/>
          </p:nvSpPr>
          <p:spPr>
            <a:xfrm>
              <a:off x="7932979" y="3627169"/>
              <a:ext cx="1755234" cy="306162"/>
            </a:xfrm>
            <a:prstGeom prst="rect">
              <a:avLst/>
            </a:prstGeom>
          </p:spPr>
          <p:txBody>
            <a:bodyPr vert="horz" lIns="71568" tIns="35785" rIns="71568" bIns="35785" rtlCol="0">
              <a:norm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n-US" altLang="ko-KR" sz="1450" spc="-117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[crop </a:t>
              </a:r>
              <a:r>
                <a:rPr lang="ko-KR" altLang="en-US" sz="1450" spc="-117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결과 이미지</a:t>
              </a:r>
              <a:r>
                <a:rPr lang="en-US" altLang="ko-KR" sz="1450" spc="-117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]</a:t>
              </a:r>
            </a:p>
          </p:txBody>
        </p:sp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66A9C690-B62D-624C-48CB-D887EDB758FF}"/>
              </a:ext>
            </a:extLst>
          </p:cNvPr>
          <p:cNvSpPr/>
          <p:nvPr/>
        </p:nvSpPr>
        <p:spPr>
          <a:xfrm>
            <a:off x="390849" y="1494243"/>
            <a:ext cx="9124301" cy="467559"/>
          </a:xfrm>
          <a:prstGeom prst="rect">
            <a:avLst/>
          </a:prstGeom>
          <a:solidFill>
            <a:srgbClr val="8C161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02) </a:t>
            </a:r>
            <a:r>
              <a:rPr lang="ko-KR" altLang="en-US" sz="24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제안 프레임워크</a:t>
            </a:r>
          </a:p>
        </p:txBody>
      </p:sp>
    </p:spTree>
    <p:extLst>
      <p:ext uri="{BB962C8B-B14F-4D97-AF65-F5344CB8AC3E}">
        <p14:creationId xmlns:p14="http://schemas.microsoft.com/office/powerpoint/2010/main" val="739262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F222E-F38F-41B5-57F7-DCFDEDB6D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97F578E2-E917-8745-372B-301EC6D59345}"/>
              </a:ext>
            </a:extLst>
          </p:cNvPr>
          <p:cNvSpPr txBox="1">
            <a:spLocks/>
          </p:cNvSpPr>
          <p:nvPr/>
        </p:nvSpPr>
        <p:spPr>
          <a:xfrm>
            <a:off x="677626" y="1277731"/>
            <a:ext cx="6404818" cy="890773"/>
          </a:xfrm>
          <a:prstGeom prst="rect">
            <a:avLst/>
          </a:prstGeom>
        </p:spPr>
        <p:txBody>
          <a:bodyPr vert="horz" lIns="71568" tIns="35785" rIns="71568" bIns="35785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2400" b="1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3. CLIP</a:t>
            </a:r>
            <a:r>
              <a:rPr lang="ko-KR" altLang="en-US" sz="2400" b="1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</a:t>
            </a:r>
            <a:r>
              <a:rPr lang="en-US" altLang="ko-KR" sz="2400" b="1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r>
              <a:rPr lang="ko-KR" altLang="en-US" sz="2400" b="1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차 분류 </a:t>
            </a:r>
            <a:r>
              <a:rPr lang="en-US" altLang="ko-KR" sz="2400" b="1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(Zero-shot</a:t>
            </a:r>
            <a:r>
              <a:rPr lang="ko-KR" altLang="en-US" sz="2400" b="1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400" b="1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classification)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다음과 같은 라벨을 부여해 </a:t>
            </a:r>
            <a:r>
              <a:rPr lang="en-US" altLang="ko-KR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CLIP</a:t>
            </a:r>
            <a:r>
              <a:rPr lang="ko-KR" altLang="en-US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을 사용한 </a:t>
            </a:r>
            <a:r>
              <a:rPr lang="ko-KR" altLang="en-US" sz="1700" spc="-117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제로샷</a:t>
            </a:r>
            <a:r>
              <a:rPr lang="en-US" altLang="ko-KR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분류</a:t>
            </a:r>
            <a:endParaRPr lang="en-US" altLang="ko-KR" sz="1700" spc="-117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1723" spc="-117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1723" spc="-117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633FF81C-4C08-777A-0510-78A1F083F9A3}"/>
              </a:ext>
            </a:extLst>
          </p:cNvPr>
          <p:cNvSpPr txBox="1">
            <a:spLocks/>
          </p:cNvSpPr>
          <p:nvPr/>
        </p:nvSpPr>
        <p:spPr>
          <a:xfrm>
            <a:off x="677625" y="2372868"/>
            <a:ext cx="6662513" cy="3446041"/>
          </a:xfrm>
          <a:prstGeom prst="rect">
            <a:avLst/>
          </a:prstGeom>
        </p:spPr>
        <p:txBody>
          <a:bodyPr vert="horz" lIns="71568" tIns="35785" rIns="71568" bIns="35785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고려청자 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"</a:t>
            </a:r>
            <a:r>
              <a:rPr lang="en-US" altLang="ko-KR" sz="15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Goryeo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dynasty inlaid celadon pottery with jade green glaze, Korean celadon bowl with </a:t>
            </a:r>
            <a:r>
              <a:rPr lang="en-US" altLang="ko-KR" sz="15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sanggam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inlay technique“</a:t>
            </a:r>
          </a:p>
          <a:p>
            <a:pPr marL="0" indent="0" fontAlgn="base">
              <a:buNone/>
            </a:pPr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분청사기 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"Joseon dynasty </a:t>
            </a:r>
            <a:r>
              <a:rPr lang="en-US" altLang="ko-KR" sz="15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buncheong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ware with stamped decoration, traditional Korean </a:t>
            </a:r>
            <a:r>
              <a:rPr lang="en-US" altLang="ko-KR" sz="15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buncheong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bowl with grey-green glaze"</a:t>
            </a:r>
          </a:p>
          <a:p>
            <a:pPr marL="0" indent="0" fontAlgn="base">
              <a:buNone/>
            </a:pPr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조선백자 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"Joseon dynasty white porcelain jar, unpainted, smooth white glaze, traditional Korean </a:t>
            </a:r>
            <a:r>
              <a:rPr lang="en-US" altLang="ko-KR" sz="15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baekja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"</a:t>
            </a:r>
          </a:p>
          <a:p>
            <a:pPr marL="0" indent="0" fontAlgn="base">
              <a:buNone/>
            </a:pPr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청화백자 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"blue and white porcelain from the Joseon dynasty"</a:t>
            </a:r>
          </a:p>
          <a:p>
            <a:pPr marL="0" indent="0" fontAlgn="base">
              <a:buNone/>
            </a:pPr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철화백자 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"Joseon dynasty iron-painted white porcelain with black painted decoration, traditional Korean jar or bowl“</a:t>
            </a:r>
          </a:p>
          <a:p>
            <a:pPr marL="0" indent="0" fontAlgn="base">
              <a:buNone/>
            </a:pPr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진사백자 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"Joseon dynasty polychrome painted (red color painted) porcelain called </a:t>
            </a:r>
            <a:r>
              <a:rPr lang="en-US" altLang="ko-KR" sz="15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dongchae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5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baekja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"</a:t>
            </a:r>
          </a:p>
          <a:p>
            <a:pPr marL="0" indent="0" fontAlgn="base">
              <a:buNone/>
            </a:pPr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기타 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"Korean earthenware pottery that is not celadon or white porcelain"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sz="1100" spc="-117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B2DDBB9-2B0B-E6C3-BBD9-CF6BA95BE4BA}"/>
              </a:ext>
            </a:extLst>
          </p:cNvPr>
          <p:cNvGrpSpPr/>
          <p:nvPr/>
        </p:nvGrpSpPr>
        <p:grpSpPr>
          <a:xfrm>
            <a:off x="7492338" y="1119186"/>
            <a:ext cx="1864018" cy="5341946"/>
            <a:chOff x="7010495" y="868682"/>
            <a:chExt cx="1864018" cy="5341946"/>
          </a:xfrm>
        </p:grpSpPr>
        <p:pic>
          <p:nvPicPr>
            <p:cNvPr id="27" name="그림 26" descr="꽃병, 병, 자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E3A1FE92-A3C0-5863-6EBB-9E31AE4BCF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10495" y="3273827"/>
              <a:ext cx="1864018" cy="244559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29" name="그림 28" descr="꽃병, 도자기 용품, 도자기, 도기류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DB308D1D-2ECA-3E1F-6041-A7D1028845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8474" y="868682"/>
              <a:ext cx="1608057" cy="208984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32" name="내용 개체 틀 2">
              <a:extLst>
                <a:ext uri="{FF2B5EF4-FFF2-40B4-BE49-F238E27FC236}">
                  <a16:creationId xmlns:a16="http://schemas.microsoft.com/office/drawing/2014/main" id="{C1EB8112-4449-7323-E3C8-039BCE1D0F49}"/>
                </a:ext>
              </a:extLst>
            </p:cNvPr>
            <p:cNvSpPr txBox="1">
              <a:spLocks/>
            </p:cNvSpPr>
            <p:nvPr/>
          </p:nvSpPr>
          <p:spPr>
            <a:xfrm>
              <a:off x="7247992" y="5923783"/>
              <a:ext cx="1389023" cy="286845"/>
            </a:xfrm>
            <a:prstGeom prst="rect">
              <a:avLst/>
            </a:prstGeom>
          </p:spPr>
          <p:txBody>
            <a:bodyPr vert="horz" lIns="71568" tIns="35785" rIns="71568" bIns="35785" rtlCol="0" anchor="ctr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fontAlgn="base">
                <a:buNone/>
              </a:pPr>
              <a:r>
                <a:rPr lang="en-US" altLang="ko-KR" sz="1450" spc="-117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[</a:t>
              </a:r>
              <a:r>
                <a:rPr lang="ko-KR" altLang="en-US" sz="1450" spc="-117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분류결과 예시</a:t>
              </a:r>
              <a:r>
                <a:rPr lang="en-US" altLang="ko-KR" sz="1450" spc="-117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]</a:t>
              </a:r>
            </a:p>
          </p:txBody>
        </p: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351EA3B4-DD42-BCE3-2989-50A08E49D674}"/>
              </a:ext>
            </a:extLst>
          </p:cNvPr>
          <p:cNvSpPr/>
          <p:nvPr/>
        </p:nvSpPr>
        <p:spPr>
          <a:xfrm>
            <a:off x="390849" y="287414"/>
            <a:ext cx="9124301" cy="467559"/>
          </a:xfrm>
          <a:prstGeom prst="rect">
            <a:avLst/>
          </a:prstGeom>
          <a:solidFill>
            <a:srgbClr val="8C161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02) </a:t>
            </a:r>
            <a:r>
              <a:rPr lang="ko-KR" altLang="en-US" sz="24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제안 프레임워크</a:t>
            </a:r>
          </a:p>
        </p:txBody>
      </p:sp>
    </p:spTree>
    <p:extLst>
      <p:ext uri="{BB962C8B-B14F-4D97-AF65-F5344CB8AC3E}">
        <p14:creationId xmlns:p14="http://schemas.microsoft.com/office/powerpoint/2010/main" val="3217312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3A2FF-855B-07EF-6239-497741A78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내용 개체 틀 7">
            <a:extLst>
              <a:ext uri="{FF2B5EF4-FFF2-40B4-BE49-F238E27FC236}">
                <a16:creationId xmlns:a16="http://schemas.microsoft.com/office/drawing/2014/main" id="{DF8D8F6C-05A8-177D-4D45-FBEDB6B80EC7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4064707"/>
              </p:ext>
            </p:extLst>
          </p:nvPr>
        </p:nvGraphicFramePr>
        <p:xfrm>
          <a:off x="6757035" y="1277790"/>
          <a:ext cx="2618875" cy="11894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3775">
                  <a:extLst>
                    <a:ext uri="{9D8B030D-6E8A-4147-A177-3AD203B41FA5}">
                      <a16:colId xmlns:a16="http://schemas.microsoft.com/office/drawing/2014/main" val="1179283118"/>
                    </a:ext>
                  </a:extLst>
                </a:gridCol>
                <a:gridCol w="523775">
                  <a:extLst>
                    <a:ext uri="{9D8B030D-6E8A-4147-A177-3AD203B41FA5}">
                      <a16:colId xmlns:a16="http://schemas.microsoft.com/office/drawing/2014/main" val="352900705"/>
                    </a:ext>
                  </a:extLst>
                </a:gridCol>
                <a:gridCol w="523775">
                  <a:extLst>
                    <a:ext uri="{9D8B030D-6E8A-4147-A177-3AD203B41FA5}">
                      <a16:colId xmlns:a16="http://schemas.microsoft.com/office/drawing/2014/main" val="1183033806"/>
                    </a:ext>
                  </a:extLst>
                </a:gridCol>
                <a:gridCol w="523775">
                  <a:extLst>
                    <a:ext uri="{9D8B030D-6E8A-4147-A177-3AD203B41FA5}">
                      <a16:colId xmlns:a16="http://schemas.microsoft.com/office/drawing/2014/main" val="3382993991"/>
                    </a:ext>
                  </a:extLst>
                </a:gridCol>
                <a:gridCol w="523775">
                  <a:extLst>
                    <a:ext uri="{9D8B030D-6E8A-4147-A177-3AD203B41FA5}">
                      <a16:colId xmlns:a16="http://schemas.microsoft.com/office/drawing/2014/main" val="272173567"/>
                    </a:ext>
                  </a:extLst>
                </a:gridCol>
              </a:tblGrid>
              <a:tr h="2973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구분</a:t>
                      </a:r>
                    </a:p>
                  </a:txBody>
                  <a:tcPr marL="71568" marR="71568" marT="35785" marB="35785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청자</a:t>
                      </a:r>
                    </a:p>
                  </a:txBody>
                  <a:tcPr marL="71568" marR="71568" marT="35785" marB="35785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백자</a:t>
                      </a:r>
                    </a:p>
                  </a:txBody>
                  <a:tcPr marL="71568" marR="71568" marT="35785" marB="35785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기타</a:t>
                      </a:r>
                    </a:p>
                  </a:txBody>
                  <a:tcPr marL="71568" marR="71568" marT="35785" marB="35785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총합</a:t>
                      </a:r>
                    </a:p>
                  </a:txBody>
                  <a:tcPr marL="71568" marR="71568" marT="35785" marB="35785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4772030"/>
                  </a:ext>
                </a:extLst>
              </a:tr>
              <a:tr h="2973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학습</a:t>
                      </a:r>
                    </a:p>
                  </a:txBody>
                  <a:tcPr marL="71568" marR="71568" marT="35785" marB="35785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20</a:t>
                      </a:r>
                      <a:endParaRPr lang="ko-KR" altLang="en-US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1568" marR="71568" marT="35785" marB="3578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35</a:t>
                      </a:r>
                      <a:endParaRPr lang="ko-KR" altLang="en-US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1568" marR="71568" marT="35785" marB="3578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16</a:t>
                      </a:r>
                      <a:endParaRPr lang="ko-KR" altLang="en-US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1568" marR="71568" marT="35785" marB="3578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71</a:t>
                      </a:r>
                      <a:endParaRPr lang="ko-KR" altLang="en-US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1568" marR="71568" marT="35785" marB="35785"/>
                </a:tc>
                <a:extLst>
                  <a:ext uri="{0D108BD9-81ED-4DB2-BD59-A6C34878D82A}">
                    <a16:rowId xmlns:a16="http://schemas.microsoft.com/office/drawing/2014/main" val="1808729613"/>
                  </a:ext>
                </a:extLst>
              </a:tr>
              <a:tr h="2973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검증</a:t>
                      </a:r>
                    </a:p>
                  </a:txBody>
                  <a:tcPr marL="71568" marR="71568" marT="35785" marB="35785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18</a:t>
                      </a:r>
                      <a:endParaRPr lang="ko-KR" altLang="en-US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1568" marR="71568" marT="35785" marB="3578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13</a:t>
                      </a:r>
                      <a:endParaRPr lang="ko-KR" altLang="en-US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1568" marR="71568" marT="35785" marB="3578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4</a:t>
                      </a:r>
                      <a:endParaRPr lang="ko-KR" altLang="en-US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1568" marR="71568" marT="35785" marB="3578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35</a:t>
                      </a:r>
                      <a:endParaRPr lang="ko-KR" altLang="en-US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1568" marR="71568" marT="35785" marB="35785"/>
                </a:tc>
                <a:extLst>
                  <a:ext uri="{0D108BD9-81ED-4DB2-BD59-A6C34878D82A}">
                    <a16:rowId xmlns:a16="http://schemas.microsoft.com/office/drawing/2014/main" val="3462393297"/>
                  </a:ext>
                </a:extLst>
              </a:tr>
              <a:tr h="2973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합계</a:t>
                      </a:r>
                    </a:p>
                  </a:txBody>
                  <a:tcPr marL="71568" marR="71568" marT="35785" marB="35785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38</a:t>
                      </a:r>
                      <a:endParaRPr lang="ko-KR" altLang="en-US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1568" marR="71568" marT="35785" marB="3578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48</a:t>
                      </a:r>
                      <a:endParaRPr lang="ko-KR" altLang="en-US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1568" marR="71568" marT="35785" marB="3578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20</a:t>
                      </a:r>
                      <a:endParaRPr lang="ko-KR" altLang="en-US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1568" marR="71568" marT="35785" marB="3578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106</a:t>
                      </a:r>
                      <a:endParaRPr lang="ko-KR" altLang="en-US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1568" marR="71568" marT="35785" marB="35785"/>
                </a:tc>
                <a:extLst>
                  <a:ext uri="{0D108BD9-81ED-4DB2-BD59-A6C34878D82A}">
                    <a16:rowId xmlns:a16="http://schemas.microsoft.com/office/drawing/2014/main" val="2174313628"/>
                  </a:ext>
                </a:extLst>
              </a:tr>
            </a:tbl>
          </a:graphicData>
        </a:graphic>
      </p:graphicFrame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0721EB08-E5FF-358D-9FF7-4E7821F8EEBE}"/>
              </a:ext>
            </a:extLst>
          </p:cNvPr>
          <p:cNvSpPr txBox="1">
            <a:spLocks/>
          </p:cNvSpPr>
          <p:nvPr/>
        </p:nvSpPr>
        <p:spPr>
          <a:xfrm>
            <a:off x="6844809" y="2522701"/>
            <a:ext cx="2443328" cy="334115"/>
          </a:xfrm>
          <a:prstGeom prst="rect">
            <a:avLst/>
          </a:prstGeom>
        </p:spPr>
        <p:txBody>
          <a:bodyPr vert="horz" lIns="71568" tIns="35785" rIns="71568" bIns="35785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ko-KR" altLang="en-US" sz="145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표 </a:t>
            </a:r>
            <a:r>
              <a:rPr lang="en-US" altLang="ko-KR" sz="145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1. [</a:t>
            </a:r>
            <a:r>
              <a:rPr lang="ko-KR" altLang="en-US" sz="145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카테고리별 데이터 구성</a:t>
            </a:r>
            <a:r>
              <a:rPr lang="en-US" altLang="ko-KR" sz="145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]</a:t>
            </a: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B7669104-43A7-A19E-13FD-1FA368EE75CF}"/>
              </a:ext>
            </a:extLst>
          </p:cNvPr>
          <p:cNvSpPr txBox="1">
            <a:spLocks/>
          </p:cNvSpPr>
          <p:nvPr/>
        </p:nvSpPr>
        <p:spPr>
          <a:xfrm>
            <a:off x="530090" y="1237944"/>
            <a:ext cx="5995401" cy="1766880"/>
          </a:xfrm>
          <a:prstGeom prst="rect">
            <a:avLst/>
          </a:prstGeom>
        </p:spPr>
        <p:txBody>
          <a:bodyPr vert="horz" lIns="71568" tIns="35785" rIns="71568" bIns="35785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제안된 프레임워크는 </a:t>
            </a:r>
            <a:r>
              <a:rPr lang="ko-KR" altLang="en-US" sz="15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객체 검출 모듈</a:t>
            </a:r>
            <a:r>
              <a:rPr lang="en-US" altLang="ko-KR" sz="15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(YOLOv8) </a:t>
            </a:r>
            <a:r>
              <a:rPr lang="ko-KR" altLang="en-US" sz="15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및</a:t>
            </a:r>
            <a:r>
              <a:rPr lang="en-US" altLang="ko-KR" sz="15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Crop </a:t>
            </a:r>
            <a:r>
              <a:rPr lang="ko-KR" altLang="en-US" sz="15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전처리</a:t>
            </a:r>
            <a:r>
              <a:rPr lang="ko-KR" altLang="en-US" sz="15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모듈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en-US" altLang="ko-KR" sz="15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CLIP </a:t>
            </a:r>
            <a:r>
              <a:rPr lang="ko-KR" altLang="en-US" sz="15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기반 분류 모듈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그리고 </a:t>
            </a:r>
            <a:r>
              <a:rPr lang="en-US" altLang="ko-KR" sz="15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Zero-shot </a:t>
            </a:r>
            <a:r>
              <a:rPr lang="ko-KR" altLang="en-US" sz="15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세분류</a:t>
            </a:r>
            <a:r>
              <a:rPr lang="ko-KR" altLang="en-US" sz="15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모듈</a:t>
            </a:r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로 구성된다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en-US" altLang="ko-KR" sz="1500" spc="-117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fontAlgn="base">
              <a:buNone/>
            </a:pPr>
            <a:r>
              <a:rPr lang="en-US" altLang="ko-KR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YOLOv8 </a:t>
            </a:r>
            <a:r>
              <a:rPr lang="ko-KR" altLang="en-US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기반 객체 검출 모듈에서는  도자기 탐지를 위해 </a:t>
            </a:r>
            <a:r>
              <a:rPr lang="en-US" altLang="ko-KR" sz="1500" spc="-117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Ultralytics</a:t>
            </a:r>
            <a:r>
              <a:rPr lang="ko-KR" altLang="en-US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</a:t>
            </a:r>
            <a:r>
              <a:rPr lang="en-US" altLang="ko-KR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YOLOv8n </a:t>
            </a:r>
            <a:r>
              <a:rPr lang="ko-KR" altLang="en-US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모델을 기반으로 실험을 진행하였는데</a:t>
            </a:r>
            <a:r>
              <a:rPr lang="en-US" altLang="ko-KR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</a:p>
          <a:p>
            <a:pPr marL="0" indent="0" fontAlgn="base">
              <a:buNone/>
            </a:pPr>
            <a:r>
              <a:rPr lang="ko-KR" altLang="en-US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본 연구에서는 </a:t>
            </a:r>
            <a:r>
              <a:rPr lang="en-US" altLang="ko-KR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106</a:t>
            </a:r>
            <a:r>
              <a:rPr lang="ko-KR" altLang="en-US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장의 이미지를 수집해  </a:t>
            </a:r>
            <a:r>
              <a:rPr lang="en-US" altLang="ko-KR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Label-studio</a:t>
            </a:r>
            <a:r>
              <a:rPr lang="ko-KR" altLang="en-US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로 라벨링을 수행한 후 다음 표 </a:t>
            </a:r>
            <a:r>
              <a:rPr lang="en-US" altLang="ko-KR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과 같이  실험 데이터셋을 구성하여 </a:t>
            </a:r>
            <a:r>
              <a:rPr lang="en-US" altLang="ko-KR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YOLOv8 </a:t>
            </a:r>
            <a:r>
              <a:rPr lang="ko-KR" altLang="en-US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모델의 </a:t>
            </a:r>
            <a:r>
              <a:rPr lang="en-US" altLang="ko-KR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fine-tuning</a:t>
            </a:r>
            <a:r>
              <a:rPr lang="ko-KR" altLang="en-US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을 실시하였다</a:t>
            </a:r>
            <a:r>
              <a:rPr lang="en-US" altLang="ko-KR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8362DC5E-07FC-31AA-3D0C-7073B3F5358A}"/>
              </a:ext>
            </a:extLst>
          </p:cNvPr>
          <p:cNvSpPr txBox="1">
            <a:spLocks/>
          </p:cNvSpPr>
          <p:nvPr/>
        </p:nvSpPr>
        <p:spPr>
          <a:xfrm>
            <a:off x="5402986" y="3736214"/>
            <a:ext cx="4172652" cy="2649763"/>
          </a:xfrm>
          <a:prstGeom prst="rect">
            <a:avLst/>
          </a:prstGeom>
        </p:spPr>
        <p:txBody>
          <a:bodyPr vert="horz" lIns="71568" tIns="35785" rIns="71568" bIns="35785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altLang="ko-KR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CLIP </a:t>
            </a:r>
            <a:r>
              <a:rPr lang="ko-KR" altLang="en-US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기반 분류 모듈에서는</a:t>
            </a:r>
            <a:r>
              <a:rPr lang="en-US" altLang="ko-KR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학습된 </a:t>
            </a:r>
            <a:r>
              <a:rPr lang="en-US" altLang="ko-KR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YOLOv8 </a:t>
            </a:r>
            <a:r>
              <a:rPr lang="ko-KR" altLang="en-US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모델이 이미지에서 인식한 도자기 부분을 </a:t>
            </a:r>
            <a:r>
              <a:rPr lang="en-US" altLang="ko-KR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crop</a:t>
            </a:r>
            <a:r>
              <a:rPr lang="ko-KR" altLang="en-US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해  </a:t>
            </a:r>
            <a:r>
              <a:rPr lang="en-US" altLang="ko-KR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CLIP</a:t>
            </a:r>
            <a:r>
              <a:rPr lang="ko-KR" altLang="en-US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시각 인코더에 입력한다</a:t>
            </a:r>
            <a:r>
              <a:rPr lang="en-US" altLang="ko-KR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0" indent="0" fontAlgn="base">
              <a:buNone/>
            </a:pPr>
            <a:r>
              <a:rPr lang="en-US" altLang="ko-KR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500" spc="-117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전처리</a:t>
            </a:r>
            <a:r>
              <a:rPr lang="ko-KR" altLang="en-US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단계에서는 각 이미지를 </a:t>
            </a:r>
            <a:r>
              <a:rPr lang="en-US" altLang="ko-KR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224*224</a:t>
            </a:r>
            <a:r>
              <a:rPr lang="ko-KR" altLang="en-US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로 </a:t>
            </a:r>
            <a:r>
              <a:rPr lang="en-US" altLang="ko-KR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resize</a:t>
            </a:r>
            <a:r>
              <a:rPr lang="ko-KR" altLang="en-US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한 후</a:t>
            </a:r>
            <a:r>
              <a:rPr lang="en-US" altLang="ko-KR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표준 </a:t>
            </a:r>
            <a:r>
              <a:rPr lang="en-US" altLang="ko-KR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normalization</a:t>
            </a:r>
            <a:r>
              <a:rPr lang="ko-KR" altLang="en-US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을 적용하였다</a:t>
            </a:r>
            <a:r>
              <a:rPr lang="en-US" altLang="ko-KR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</a:p>
          <a:p>
            <a:pPr marL="0" indent="0" fontAlgn="base">
              <a:buNone/>
            </a:pPr>
            <a:r>
              <a:rPr lang="ko-KR" altLang="en-US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그 후 </a:t>
            </a:r>
            <a:r>
              <a:rPr lang="en-US" altLang="ko-KR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Fine-tuning</a:t>
            </a:r>
            <a:r>
              <a:rPr lang="ko-KR" altLang="en-US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은</a:t>
            </a:r>
            <a:r>
              <a:rPr lang="ko-KR" altLang="en-US" sz="1500" b="1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500" b="1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[celadon, </a:t>
            </a:r>
            <a:r>
              <a:rPr lang="en-US" altLang="ko-KR" sz="1500" b="1" spc="-117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white_porcelain</a:t>
            </a:r>
            <a:r>
              <a:rPr lang="en-US" altLang="ko-KR" sz="1500" b="1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en-US" altLang="ko-KR" sz="1500" b="1" spc="-117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other_pottery</a:t>
            </a:r>
            <a:r>
              <a:rPr lang="en-US" altLang="ko-KR" sz="1500" b="1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] </a:t>
            </a:r>
            <a:r>
              <a:rPr lang="ko-KR" altLang="en-US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세 카테고리에 대해 진행하였다</a:t>
            </a:r>
            <a:r>
              <a:rPr lang="en-US" altLang="ko-KR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</a:p>
          <a:p>
            <a:pPr marL="0" indent="0" fontAlgn="base">
              <a:buNone/>
            </a:pPr>
            <a:r>
              <a:rPr lang="ko-KR" altLang="en-US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이때 부족한 데이터셋을 고려하여 과잉 적합 방지를 위해 </a:t>
            </a:r>
            <a:r>
              <a:rPr lang="en-US" altLang="ko-KR" sz="1500" b="1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Feature Extraction </a:t>
            </a:r>
            <a:r>
              <a:rPr lang="ko-KR" altLang="en-US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기반의 전이 학습 전략을 채택했다</a:t>
            </a:r>
            <a:r>
              <a:rPr lang="en-US" altLang="ko-KR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</a:p>
          <a:p>
            <a:pPr marL="0" indent="0" fontAlgn="base">
              <a:buNone/>
            </a:pPr>
            <a:endParaRPr lang="en-US" altLang="ko-KR" sz="1500" spc="-117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fontAlgn="base">
              <a:buNone/>
            </a:pPr>
            <a:r>
              <a:rPr lang="en-US" altLang="ko-KR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A6D4B0CD-0911-6E4C-BC55-1258C2279FA9}"/>
              </a:ext>
            </a:extLst>
          </p:cNvPr>
          <p:cNvGrpSpPr/>
          <p:nvPr/>
        </p:nvGrpSpPr>
        <p:grpSpPr>
          <a:xfrm>
            <a:off x="466580" y="3836594"/>
            <a:ext cx="4621724" cy="2449001"/>
            <a:chOff x="605559" y="3815970"/>
            <a:chExt cx="4621724" cy="2449001"/>
          </a:xfrm>
        </p:grpSpPr>
        <p:graphicFrame>
          <p:nvGraphicFramePr>
            <p:cNvPr id="13" name="내용 개체 틀 7">
              <a:extLst>
                <a:ext uri="{FF2B5EF4-FFF2-40B4-BE49-F238E27FC236}">
                  <a16:creationId xmlns:a16="http://schemas.microsoft.com/office/drawing/2014/main" id="{04592219-C131-2C7F-50EA-E6F51DCE361F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660973860"/>
                </p:ext>
              </p:extLst>
            </p:nvPr>
          </p:nvGraphicFramePr>
          <p:xfrm>
            <a:off x="605559" y="3815970"/>
            <a:ext cx="4621724" cy="2051671"/>
          </p:xfrm>
          <a:graphic>
            <a:graphicData uri="http://schemas.openxmlformats.org/drawingml/2006/table">
              <a:tbl>
                <a:tblPr firstRow="1" bandRow="1">
                  <a:tableStyleId>{5940675A-B579-460E-94D1-54222C63F5DA}</a:tableStyleId>
                </a:tblPr>
                <a:tblGrid>
                  <a:gridCol w="1208128">
                    <a:extLst>
                      <a:ext uri="{9D8B030D-6E8A-4147-A177-3AD203B41FA5}">
                        <a16:colId xmlns:a16="http://schemas.microsoft.com/office/drawing/2014/main" val="1179283118"/>
                      </a:ext>
                    </a:extLst>
                  </a:gridCol>
                  <a:gridCol w="853399">
                    <a:extLst>
                      <a:ext uri="{9D8B030D-6E8A-4147-A177-3AD203B41FA5}">
                        <a16:colId xmlns:a16="http://schemas.microsoft.com/office/drawing/2014/main" val="352900705"/>
                      </a:ext>
                    </a:extLst>
                  </a:gridCol>
                  <a:gridCol w="853399">
                    <a:extLst>
                      <a:ext uri="{9D8B030D-6E8A-4147-A177-3AD203B41FA5}">
                        <a16:colId xmlns:a16="http://schemas.microsoft.com/office/drawing/2014/main" val="1183033806"/>
                      </a:ext>
                    </a:extLst>
                  </a:gridCol>
                  <a:gridCol w="853399">
                    <a:extLst>
                      <a:ext uri="{9D8B030D-6E8A-4147-A177-3AD203B41FA5}">
                        <a16:colId xmlns:a16="http://schemas.microsoft.com/office/drawing/2014/main" val="3382993991"/>
                      </a:ext>
                    </a:extLst>
                  </a:gridCol>
                  <a:gridCol w="853399">
                    <a:extLst>
                      <a:ext uri="{9D8B030D-6E8A-4147-A177-3AD203B41FA5}">
                        <a16:colId xmlns:a16="http://schemas.microsoft.com/office/drawing/2014/main" val="272173567"/>
                      </a:ext>
                    </a:extLst>
                  </a:gridCol>
                </a:tblGrid>
                <a:tr h="256477"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ko-KR" altLang="en-US" sz="1200" dirty="0">
                            <a:latin typeface="나눔스퀘어" panose="020B0600000101010101" pitchFamily="50" charset="-127"/>
                            <a:ea typeface="나눔스퀘어" panose="020B0600000101010101" pitchFamily="50" charset="-127"/>
                          </a:rPr>
                          <a:t>구분</a:t>
                        </a:r>
                      </a:p>
                    </a:txBody>
                    <a:tcPr marL="71568" marR="71568" marT="35785" marB="35785">
                      <a:solidFill>
                        <a:schemeClr val="bg2">
                          <a:lumMod val="9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dirty="0">
                            <a:latin typeface="나눔스퀘어" panose="020B0600000101010101" pitchFamily="50" charset="-127"/>
                            <a:ea typeface="나눔스퀘어" panose="020B0600000101010101" pitchFamily="50" charset="-127"/>
                          </a:rPr>
                          <a:t>Precision</a:t>
                        </a:r>
                        <a:endPara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endParaRPr>
                      </a:p>
                    </a:txBody>
                    <a:tcPr marL="71568" marR="71568" marT="35785" marB="35785">
                      <a:solidFill>
                        <a:schemeClr val="bg2">
                          <a:lumMod val="9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dirty="0">
                            <a:latin typeface="나눔스퀘어" panose="020B0600000101010101" pitchFamily="50" charset="-127"/>
                            <a:ea typeface="나눔스퀘어" panose="020B0600000101010101" pitchFamily="50" charset="-127"/>
                          </a:rPr>
                          <a:t>Recall</a:t>
                        </a:r>
                        <a:endPara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endParaRPr>
                      </a:p>
                    </a:txBody>
                    <a:tcPr marL="71568" marR="71568" marT="35785" marB="35785">
                      <a:solidFill>
                        <a:schemeClr val="bg2">
                          <a:lumMod val="9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dirty="0">
                            <a:latin typeface="나눔스퀘어" panose="020B0600000101010101" pitchFamily="50" charset="-127"/>
                            <a:ea typeface="나눔스퀘어" panose="020B0600000101010101" pitchFamily="50" charset="-127"/>
                          </a:rPr>
                          <a:t>F1-score</a:t>
                        </a:r>
                        <a:endPara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endParaRPr>
                      </a:p>
                    </a:txBody>
                    <a:tcPr marL="71568" marR="71568" marT="35785" marB="35785">
                      <a:solidFill>
                        <a:schemeClr val="bg2">
                          <a:lumMod val="9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dirty="0">
                            <a:latin typeface="나눔스퀘어" panose="020B0600000101010101" pitchFamily="50" charset="-127"/>
                            <a:ea typeface="나눔스퀘어" panose="020B0600000101010101" pitchFamily="50" charset="-127"/>
                          </a:rPr>
                          <a:t>Support</a:t>
                        </a:r>
                        <a:endPara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endParaRPr>
                      </a:p>
                    </a:txBody>
                    <a:tcPr marL="71568" marR="71568" marT="35785" marB="35785">
                      <a:solidFill>
                        <a:schemeClr val="bg2">
                          <a:lumMod val="9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134772030"/>
                    </a:ext>
                  </a:extLst>
                </a:tr>
                <a:tr h="299199"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100" dirty="0">
                            <a:latin typeface="나눔스퀘어" panose="020B0600000101010101" pitchFamily="50" charset="-127"/>
                            <a:ea typeface="나눔스퀘어" panose="020B0600000101010101" pitchFamily="50" charset="-127"/>
                          </a:rPr>
                          <a:t>Celadon</a:t>
                        </a:r>
                        <a:endParaRPr lang="ko-KR" altLang="en-US" sz="11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endParaRPr>
                      </a:p>
                    </a:txBody>
                    <a:tcPr marL="71568" marR="71568" marT="35785" marB="35785">
                      <a:solidFill>
                        <a:schemeClr val="bg2">
                          <a:lumMod val="9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dirty="0">
                            <a:latin typeface="나눔스퀘어" panose="020B0600000101010101" pitchFamily="50" charset="-127"/>
                            <a:ea typeface="나눔스퀘어" panose="020B0600000101010101" pitchFamily="50" charset="-127"/>
                          </a:rPr>
                          <a:t>1.00</a:t>
                        </a:r>
                        <a:endPara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endParaRPr>
                      </a:p>
                    </a:txBody>
                    <a:tcPr marL="71568" marR="71568" marT="35785" marB="35785"/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dirty="0">
                            <a:latin typeface="나눔스퀘어" panose="020B0600000101010101" pitchFamily="50" charset="-127"/>
                            <a:ea typeface="나눔스퀘어" panose="020B0600000101010101" pitchFamily="50" charset="-127"/>
                          </a:rPr>
                          <a:t>0.98</a:t>
                        </a:r>
                        <a:endPara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endParaRPr>
                      </a:p>
                    </a:txBody>
                    <a:tcPr marL="71568" marR="71568" marT="35785" marB="35785"/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dirty="0">
                            <a:latin typeface="나눔스퀘어" panose="020B0600000101010101" pitchFamily="50" charset="-127"/>
                            <a:ea typeface="나눔스퀘어" panose="020B0600000101010101" pitchFamily="50" charset="-127"/>
                          </a:rPr>
                          <a:t>0.94</a:t>
                        </a:r>
                        <a:endPara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endParaRPr>
                      </a:p>
                    </a:txBody>
                    <a:tcPr marL="71568" marR="71568" marT="35785" marB="35785"/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dirty="0">
                            <a:latin typeface="나눔스퀘어" panose="020B0600000101010101" pitchFamily="50" charset="-127"/>
                            <a:ea typeface="나눔스퀘어" panose="020B0600000101010101" pitchFamily="50" charset="-127"/>
                          </a:rPr>
                          <a:t>18</a:t>
                        </a:r>
                        <a:endPara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endParaRPr>
                      </a:p>
                    </a:txBody>
                    <a:tcPr marL="71568" marR="71568" marT="35785" marB="35785"/>
                  </a:tc>
                  <a:extLst>
                    <a:ext uri="{0D108BD9-81ED-4DB2-BD59-A6C34878D82A}">
                      <a16:rowId xmlns:a16="http://schemas.microsoft.com/office/drawing/2014/main" val="1808729613"/>
                    </a:ext>
                  </a:extLst>
                </a:tr>
                <a:tr h="299199"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100" dirty="0" err="1">
                            <a:latin typeface="나눔스퀘어" panose="020B0600000101010101" pitchFamily="50" charset="-127"/>
                            <a:ea typeface="나눔스퀘어" panose="020B0600000101010101" pitchFamily="50" charset="-127"/>
                          </a:rPr>
                          <a:t>white_porcelain</a:t>
                        </a:r>
                        <a:endParaRPr lang="ko-KR" altLang="en-US" sz="11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endParaRPr>
                      </a:p>
                    </a:txBody>
                    <a:tcPr marL="71568" marR="71568" marT="35785" marB="35785">
                      <a:solidFill>
                        <a:schemeClr val="bg2">
                          <a:lumMod val="9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dirty="0">
                            <a:latin typeface="나눔스퀘어" panose="020B0600000101010101" pitchFamily="50" charset="-127"/>
                            <a:ea typeface="나눔스퀘어" panose="020B0600000101010101" pitchFamily="50" charset="-127"/>
                          </a:rPr>
                          <a:t>0.93</a:t>
                        </a:r>
                        <a:endPara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endParaRPr>
                      </a:p>
                    </a:txBody>
                    <a:tcPr marL="71568" marR="71568" marT="35785" marB="35785"/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dirty="0">
                            <a:latin typeface="나눔스퀘어" panose="020B0600000101010101" pitchFamily="50" charset="-127"/>
                            <a:ea typeface="나눔스퀘어" panose="020B0600000101010101" pitchFamily="50" charset="-127"/>
                          </a:rPr>
                          <a:t>1.00</a:t>
                        </a:r>
                        <a:endPara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endParaRPr>
                      </a:p>
                    </a:txBody>
                    <a:tcPr marL="71568" marR="71568" marT="35785" marB="35785"/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dirty="0">
                            <a:latin typeface="나눔스퀘어" panose="020B0600000101010101" pitchFamily="50" charset="-127"/>
                            <a:ea typeface="나눔스퀘어" panose="020B0600000101010101" pitchFamily="50" charset="-127"/>
                          </a:rPr>
                          <a:t>0.96</a:t>
                        </a:r>
                        <a:endPara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endParaRPr>
                      </a:p>
                    </a:txBody>
                    <a:tcPr marL="71568" marR="71568" marT="35785" marB="35785"/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dirty="0">
                            <a:latin typeface="나눔스퀘어" panose="020B0600000101010101" pitchFamily="50" charset="-127"/>
                            <a:ea typeface="나눔스퀘어" panose="020B0600000101010101" pitchFamily="50" charset="-127"/>
                          </a:rPr>
                          <a:t>13</a:t>
                        </a:r>
                        <a:endPara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endParaRPr>
                      </a:p>
                    </a:txBody>
                    <a:tcPr marL="71568" marR="71568" marT="35785" marB="35785"/>
                  </a:tc>
                  <a:extLst>
                    <a:ext uri="{0D108BD9-81ED-4DB2-BD59-A6C34878D82A}">
                      <a16:rowId xmlns:a16="http://schemas.microsoft.com/office/drawing/2014/main" val="3462393297"/>
                    </a:ext>
                  </a:extLst>
                </a:tr>
                <a:tr h="299199"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100" dirty="0" err="1">
                            <a:latin typeface="나눔스퀘어" panose="020B0600000101010101" pitchFamily="50" charset="-127"/>
                            <a:ea typeface="나눔스퀘어" panose="020B0600000101010101" pitchFamily="50" charset="-127"/>
                          </a:rPr>
                          <a:t>Other_pottery</a:t>
                        </a:r>
                        <a:endParaRPr lang="ko-KR" altLang="en-US" sz="11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endParaRPr>
                      </a:p>
                    </a:txBody>
                    <a:tcPr marL="71568" marR="71568" marT="35785" marB="35785">
                      <a:solidFill>
                        <a:schemeClr val="bg2">
                          <a:lumMod val="9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dirty="0">
                            <a:latin typeface="나눔스퀘어" panose="020B0600000101010101" pitchFamily="50" charset="-127"/>
                            <a:ea typeface="나눔스퀘어" panose="020B0600000101010101" pitchFamily="50" charset="-127"/>
                          </a:rPr>
                          <a:t>0.80</a:t>
                        </a:r>
                        <a:endPara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endParaRPr>
                      </a:p>
                    </a:txBody>
                    <a:tcPr marL="71568" marR="71568" marT="35785" marB="35785"/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dirty="0">
                            <a:latin typeface="나눔스퀘어" panose="020B0600000101010101" pitchFamily="50" charset="-127"/>
                            <a:ea typeface="나눔스퀘어" panose="020B0600000101010101" pitchFamily="50" charset="-127"/>
                          </a:rPr>
                          <a:t>1.00</a:t>
                        </a:r>
                        <a:endPara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endParaRPr>
                      </a:p>
                    </a:txBody>
                    <a:tcPr marL="71568" marR="71568" marT="35785" marB="35785"/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dirty="0">
                            <a:latin typeface="나눔스퀘어" panose="020B0600000101010101" pitchFamily="50" charset="-127"/>
                            <a:ea typeface="나눔스퀘어" panose="020B0600000101010101" pitchFamily="50" charset="-127"/>
                          </a:rPr>
                          <a:t>0.89</a:t>
                        </a:r>
                        <a:endPara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endParaRPr>
                      </a:p>
                    </a:txBody>
                    <a:tcPr marL="71568" marR="71568" marT="35785" marB="35785"/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dirty="0">
                            <a:latin typeface="나눔스퀘어" panose="020B0600000101010101" pitchFamily="50" charset="-127"/>
                            <a:ea typeface="나눔스퀘어" panose="020B0600000101010101" pitchFamily="50" charset="-127"/>
                          </a:rPr>
                          <a:t>4</a:t>
                        </a:r>
                        <a:endPara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endParaRPr>
                      </a:p>
                    </a:txBody>
                    <a:tcPr marL="71568" marR="71568" marT="35785" marB="35785"/>
                  </a:tc>
                  <a:extLst>
                    <a:ext uri="{0D108BD9-81ED-4DB2-BD59-A6C34878D82A}">
                      <a16:rowId xmlns:a16="http://schemas.microsoft.com/office/drawing/2014/main" val="2174313628"/>
                    </a:ext>
                  </a:extLst>
                </a:tr>
                <a:tr h="299199"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100" dirty="0">
                            <a:latin typeface="나눔스퀘어" panose="020B0600000101010101" pitchFamily="50" charset="-127"/>
                            <a:ea typeface="나눔스퀘어" panose="020B0600000101010101" pitchFamily="50" charset="-127"/>
                          </a:rPr>
                          <a:t>accuracy</a:t>
                        </a:r>
                        <a:endParaRPr lang="ko-KR" altLang="en-US" sz="11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endParaRPr>
                      </a:p>
                    </a:txBody>
                    <a:tcPr marL="71568" marR="71568" marT="35785" marB="35785">
                      <a:solidFill>
                        <a:schemeClr val="bg2">
                          <a:lumMod val="9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endParaRPr>
                      </a:p>
                    </a:txBody>
                    <a:tcPr marL="71568" marR="71568" marT="35785" marB="35785"/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endParaRPr>
                      </a:p>
                    </a:txBody>
                    <a:tcPr marL="71568" marR="71568" marT="35785" marB="35785"/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dirty="0">
                            <a:latin typeface="나눔스퀘어" panose="020B0600000101010101" pitchFamily="50" charset="-127"/>
                            <a:ea typeface="나눔스퀘어" panose="020B0600000101010101" pitchFamily="50" charset="-127"/>
                          </a:rPr>
                          <a:t>0.94</a:t>
                        </a:r>
                        <a:endPara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endParaRPr>
                      </a:p>
                    </a:txBody>
                    <a:tcPr marL="71568" marR="71568" marT="35785" marB="35785"/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dirty="0">
                            <a:latin typeface="나눔스퀘어" panose="020B0600000101010101" pitchFamily="50" charset="-127"/>
                            <a:ea typeface="나눔스퀘어" panose="020B0600000101010101" pitchFamily="50" charset="-127"/>
                          </a:rPr>
                          <a:t>35</a:t>
                        </a:r>
                        <a:endPara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endParaRPr>
                      </a:p>
                    </a:txBody>
                    <a:tcPr marL="71568" marR="71568" marT="35785" marB="35785"/>
                  </a:tc>
                  <a:extLst>
                    <a:ext uri="{0D108BD9-81ED-4DB2-BD59-A6C34878D82A}">
                      <a16:rowId xmlns:a16="http://schemas.microsoft.com/office/drawing/2014/main" val="1317533039"/>
                    </a:ext>
                  </a:extLst>
                </a:tr>
                <a:tr h="299199"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100" dirty="0">
                            <a:latin typeface="나눔스퀘어" panose="020B0600000101010101" pitchFamily="50" charset="-127"/>
                            <a:ea typeface="나눔스퀘어" panose="020B0600000101010101" pitchFamily="50" charset="-127"/>
                          </a:rPr>
                          <a:t>Macro avg</a:t>
                        </a:r>
                        <a:endParaRPr lang="ko-KR" altLang="en-US" sz="11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endParaRPr>
                      </a:p>
                    </a:txBody>
                    <a:tcPr marL="71568" marR="71568" marT="35785" marB="35785">
                      <a:solidFill>
                        <a:schemeClr val="bg2">
                          <a:lumMod val="9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dirty="0">
                            <a:latin typeface="나눔스퀘어" panose="020B0600000101010101" pitchFamily="50" charset="-127"/>
                            <a:ea typeface="나눔스퀘어" panose="020B0600000101010101" pitchFamily="50" charset="-127"/>
                          </a:rPr>
                          <a:t>0.91</a:t>
                        </a:r>
                        <a:endPara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endParaRPr>
                      </a:p>
                    </a:txBody>
                    <a:tcPr marL="71568" marR="71568" marT="35785" marB="35785"/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dirty="0">
                            <a:latin typeface="나눔스퀘어" panose="020B0600000101010101" pitchFamily="50" charset="-127"/>
                            <a:ea typeface="나눔스퀘어" panose="020B0600000101010101" pitchFamily="50" charset="-127"/>
                          </a:rPr>
                          <a:t>0.96</a:t>
                        </a:r>
                        <a:endPara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endParaRPr>
                      </a:p>
                    </a:txBody>
                    <a:tcPr marL="71568" marR="71568" marT="35785" marB="35785"/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dirty="0">
                            <a:latin typeface="나눔스퀘어" panose="020B0600000101010101" pitchFamily="50" charset="-127"/>
                            <a:ea typeface="나눔스퀘어" panose="020B0600000101010101" pitchFamily="50" charset="-127"/>
                          </a:rPr>
                          <a:t>0.93</a:t>
                        </a:r>
                        <a:endPara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endParaRPr>
                      </a:p>
                    </a:txBody>
                    <a:tcPr marL="71568" marR="71568" marT="35785" marB="35785"/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dirty="0">
                            <a:latin typeface="나눔스퀘어" panose="020B0600000101010101" pitchFamily="50" charset="-127"/>
                            <a:ea typeface="나눔스퀘어" panose="020B0600000101010101" pitchFamily="50" charset="-127"/>
                          </a:rPr>
                          <a:t>35</a:t>
                        </a:r>
                        <a:endPara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endParaRPr>
                      </a:p>
                    </a:txBody>
                    <a:tcPr marL="71568" marR="71568" marT="35785" marB="35785"/>
                  </a:tc>
                  <a:extLst>
                    <a:ext uri="{0D108BD9-81ED-4DB2-BD59-A6C34878D82A}">
                      <a16:rowId xmlns:a16="http://schemas.microsoft.com/office/drawing/2014/main" val="1652940772"/>
                    </a:ext>
                  </a:extLst>
                </a:tr>
                <a:tr h="299199"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100" dirty="0">
                            <a:latin typeface="나눔스퀘어" panose="020B0600000101010101" pitchFamily="50" charset="-127"/>
                            <a:ea typeface="나눔스퀘어" panose="020B0600000101010101" pitchFamily="50" charset="-127"/>
                          </a:rPr>
                          <a:t>Weighted avg</a:t>
                        </a:r>
                        <a:endParaRPr lang="ko-KR" altLang="en-US" sz="11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endParaRPr>
                      </a:p>
                    </a:txBody>
                    <a:tcPr marL="71568" marR="71568" marT="35785" marB="35785">
                      <a:solidFill>
                        <a:schemeClr val="bg2">
                          <a:lumMod val="9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dirty="0">
                            <a:latin typeface="나눔스퀘어" panose="020B0600000101010101" pitchFamily="50" charset="-127"/>
                            <a:ea typeface="나눔스퀘어" panose="020B0600000101010101" pitchFamily="50" charset="-127"/>
                          </a:rPr>
                          <a:t>0.95</a:t>
                        </a:r>
                        <a:endPara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endParaRPr>
                      </a:p>
                    </a:txBody>
                    <a:tcPr marL="71568" marR="71568" marT="35785" marB="35785"/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dirty="0">
                            <a:latin typeface="나눔스퀘어" panose="020B0600000101010101" pitchFamily="50" charset="-127"/>
                            <a:ea typeface="나눔스퀘어" panose="020B0600000101010101" pitchFamily="50" charset="-127"/>
                          </a:rPr>
                          <a:t>0.94</a:t>
                        </a:r>
                        <a:endPara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endParaRPr>
                      </a:p>
                    </a:txBody>
                    <a:tcPr marL="71568" marR="71568" marT="35785" marB="35785"/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dirty="0">
                            <a:latin typeface="나눔스퀘어" panose="020B0600000101010101" pitchFamily="50" charset="-127"/>
                            <a:ea typeface="나눔스퀘어" panose="020B0600000101010101" pitchFamily="50" charset="-127"/>
                          </a:rPr>
                          <a:t>0.94</a:t>
                        </a:r>
                        <a:endPara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endParaRPr>
                      </a:p>
                    </a:txBody>
                    <a:tcPr marL="71568" marR="71568" marT="35785" marB="35785"/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dirty="0">
                            <a:latin typeface="나눔스퀘어" panose="020B0600000101010101" pitchFamily="50" charset="-127"/>
                            <a:ea typeface="나눔스퀘어" panose="020B0600000101010101" pitchFamily="50" charset="-127"/>
                          </a:rPr>
                          <a:t>35</a:t>
                        </a:r>
                        <a:endPara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endParaRPr>
                      </a:p>
                    </a:txBody>
                    <a:tcPr marL="71568" marR="71568" marT="35785" marB="35785"/>
                  </a:tc>
                  <a:extLst>
                    <a:ext uri="{0D108BD9-81ED-4DB2-BD59-A6C34878D82A}">
                      <a16:rowId xmlns:a16="http://schemas.microsoft.com/office/drawing/2014/main" val="1251433442"/>
                    </a:ext>
                  </a:extLst>
                </a:tr>
              </a:tbl>
            </a:graphicData>
          </a:graphic>
        </p:graphicFrame>
        <p:sp>
          <p:nvSpPr>
            <p:cNvPr id="18" name="내용 개체 틀 2">
              <a:extLst>
                <a:ext uri="{FF2B5EF4-FFF2-40B4-BE49-F238E27FC236}">
                  <a16:creationId xmlns:a16="http://schemas.microsoft.com/office/drawing/2014/main" id="{18BE0E36-19F8-05F8-9254-4749BB22E8B3}"/>
                </a:ext>
              </a:extLst>
            </p:cNvPr>
            <p:cNvSpPr txBox="1">
              <a:spLocks/>
            </p:cNvSpPr>
            <p:nvPr/>
          </p:nvSpPr>
          <p:spPr>
            <a:xfrm>
              <a:off x="1679320" y="5932182"/>
              <a:ext cx="2474201" cy="332789"/>
            </a:xfrm>
            <a:prstGeom prst="rect">
              <a:avLst/>
            </a:prstGeom>
          </p:spPr>
          <p:txBody>
            <a:bodyPr vert="horz" lIns="71568" tIns="35785" rIns="71568" bIns="35785" rtlCol="0" anchor="ctr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ko-KR" altLang="en-US" sz="1450" spc="-117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표 </a:t>
              </a:r>
              <a:r>
                <a:rPr lang="en-US" altLang="ko-KR" sz="1450" spc="-117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2. [CLIP</a:t>
              </a:r>
              <a:r>
                <a:rPr lang="ko-KR" altLang="en-US" sz="1450" spc="-117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기반 분류 모듈 성능</a:t>
              </a:r>
              <a:r>
                <a:rPr lang="en-US" altLang="ko-KR" sz="1450" spc="-117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]</a:t>
              </a:r>
            </a:p>
          </p:txBody>
        </p:sp>
      </p:grp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283E058-1F37-BA65-1DA1-872E68E700FA}"/>
              </a:ext>
            </a:extLst>
          </p:cNvPr>
          <p:cNvCxnSpPr>
            <a:cxnSpLocks/>
          </p:cNvCxnSpPr>
          <p:nvPr/>
        </p:nvCxnSpPr>
        <p:spPr>
          <a:xfrm>
            <a:off x="451337" y="3367487"/>
            <a:ext cx="9124301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802507D2-F18A-CE76-E354-CDAF4E71F315}"/>
              </a:ext>
            </a:extLst>
          </p:cNvPr>
          <p:cNvSpPr/>
          <p:nvPr/>
        </p:nvSpPr>
        <p:spPr>
          <a:xfrm>
            <a:off x="390849" y="287414"/>
            <a:ext cx="9124301" cy="467559"/>
          </a:xfrm>
          <a:prstGeom prst="rect">
            <a:avLst/>
          </a:prstGeom>
          <a:solidFill>
            <a:srgbClr val="8C161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03) </a:t>
            </a:r>
            <a:r>
              <a:rPr lang="ko-KR" altLang="en-US" sz="24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실험 설명</a:t>
            </a:r>
          </a:p>
        </p:txBody>
      </p:sp>
    </p:spTree>
    <p:extLst>
      <p:ext uri="{BB962C8B-B14F-4D97-AF65-F5344CB8AC3E}">
        <p14:creationId xmlns:p14="http://schemas.microsoft.com/office/powerpoint/2010/main" val="3952135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F39EA-AB6B-14D6-A20C-A3BC76D31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00E465BC-8625-5997-43E9-20903FE37D63}"/>
              </a:ext>
            </a:extLst>
          </p:cNvPr>
          <p:cNvSpPr txBox="1">
            <a:spLocks/>
          </p:cNvSpPr>
          <p:nvPr/>
        </p:nvSpPr>
        <p:spPr>
          <a:xfrm>
            <a:off x="507229" y="1436645"/>
            <a:ext cx="5386495" cy="1617831"/>
          </a:xfrm>
          <a:prstGeom prst="rect">
            <a:avLst/>
          </a:prstGeom>
        </p:spPr>
        <p:txBody>
          <a:bodyPr vert="horz" lIns="71568" tIns="35785" rIns="71568" bIns="35785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lnSpc>
                <a:spcPct val="150000"/>
              </a:lnSpc>
              <a:buNone/>
            </a:pPr>
            <a:r>
              <a:rPr lang="en-US" altLang="ko-KR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CLIP</a:t>
            </a:r>
            <a:r>
              <a:rPr lang="ko-KR" altLang="en-US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</a:t>
            </a:r>
            <a:r>
              <a:rPr lang="en-US" altLang="ko-KR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Zero-shot </a:t>
            </a:r>
            <a:r>
              <a:rPr lang="ko-KR" altLang="en-US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세분화 분류 모듈에서는</a:t>
            </a:r>
            <a:r>
              <a:rPr lang="en-US" altLang="ko-KR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우선 표</a:t>
            </a:r>
            <a:r>
              <a:rPr lang="en-US" altLang="ko-KR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3</a:t>
            </a:r>
            <a:r>
              <a:rPr lang="ko-KR" altLang="en-US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과 같이 </a:t>
            </a:r>
            <a:r>
              <a:rPr lang="en-US" altLang="ko-KR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CLIP</a:t>
            </a:r>
            <a:r>
              <a:rPr lang="ko-KR" altLang="en-US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분류 정확도는</a:t>
            </a:r>
            <a:r>
              <a:rPr lang="en-US" altLang="ko-KR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500" b="1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입력되는 프롬프트의 내용과 언어에 영향</a:t>
            </a:r>
            <a:r>
              <a:rPr lang="ko-KR" altLang="en-US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을 받는 것을 확인할 수 있었다</a:t>
            </a:r>
            <a:r>
              <a:rPr lang="en-US" altLang="ko-KR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  <a:r>
              <a:rPr lang="ko-KR" altLang="en-US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따라서 </a:t>
            </a:r>
            <a:r>
              <a:rPr lang="ko-KR" altLang="en-US" sz="1500" b="1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영어로 자세하게 묘사된 프롬프트</a:t>
            </a:r>
            <a:r>
              <a:rPr lang="ko-KR" altLang="en-US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를 사용하여 분류를 진행하였다</a:t>
            </a:r>
            <a:r>
              <a:rPr lang="en-US" altLang="ko-KR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en-US" altLang="ko-KR" sz="15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aphicFrame>
        <p:nvGraphicFramePr>
          <p:cNvPr id="16" name="내용 개체 틀 7">
            <a:extLst>
              <a:ext uri="{FF2B5EF4-FFF2-40B4-BE49-F238E27FC236}">
                <a16:creationId xmlns:a16="http://schemas.microsoft.com/office/drawing/2014/main" id="{304F2E84-9F3B-6681-2742-C74086823B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8047875"/>
              </p:ext>
            </p:extLst>
          </p:nvPr>
        </p:nvGraphicFramePr>
        <p:xfrm>
          <a:off x="4953000" y="4109286"/>
          <a:ext cx="4696691" cy="18587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5413">
                  <a:extLst>
                    <a:ext uri="{9D8B030D-6E8A-4147-A177-3AD203B41FA5}">
                      <a16:colId xmlns:a16="http://schemas.microsoft.com/office/drawing/2014/main" val="1179283118"/>
                    </a:ext>
                  </a:extLst>
                </a:gridCol>
                <a:gridCol w="627423">
                  <a:extLst>
                    <a:ext uri="{9D8B030D-6E8A-4147-A177-3AD203B41FA5}">
                      <a16:colId xmlns:a16="http://schemas.microsoft.com/office/drawing/2014/main" val="352900705"/>
                    </a:ext>
                  </a:extLst>
                </a:gridCol>
                <a:gridCol w="764771">
                  <a:extLst>
                    <a:ext uri="{9D8B030D-6E8A-4147-A177-3AD203B41FA5}">
                      <a16:colId xmlns:a16="http://schemas.microsoft.com/office/drawing/2014/main" val="1183033806"/>
                    </a:ext>
                  </a:extLst>
                </a:gridCol>
                <a:gridCol w="764771">
                  <a:extLst>
                    <a:ext uri="{9D8B030D-6E8A-4147-A177-3AD203B41FA5}">
                      <a16:colId xmlns:a16="http://schemas.microsoft.com/office/drawing/2014/main" val="2523765814"/>
                    </a:ext>
                  </a:extLst>
                </a:gridCol>
                <a:gridCol w="764771">
                  <a:extLst>
                    <a:ext uri="{9D8B030D-6E8A-4147-A177-3AD203B41FA5}">
                      <a16:colId xmlns:a16="http://schemas.microsoft.com/office/drawing/2014/main" val="3382993991"/>
                    </a:ext>
                  </a:extLst>
                </a:gridCol>
                <a:gridCol w="764771">
                  <a:extLst>
                    <a:ext uri="{9D8B030D-6E8A-4147-A177-3AD203B41FA5}">
                      <a16:colId xmlns:a16="http://schemas.microsoft.com/office/drawing/2014/main" val="272173567"/>
                    </a:ext>
                  </a:extLst>
                </a:gridCol>
                <a:gridCol w="764771">
                  <a:extLst>
                    <a:ext uri="{9D8B030D-6E8A-4147-A177-3AD203B41FA5}">
                      <a16:colId xmlns:a16="http://schemas.microsoft.com/office/drawing/2014/main" val="3133355091"/>
                    </a:ext>
                  </a:extLst>
                </a:gridCol>
              </a:tblGrid>
              <a:tr h="3477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언어</a:t>
                      </a:r>
                      <a:endParaRPr lang="ko-KR" altLang="en-US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1568" marR="71568" marT="35785" marB="3578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내용</a:t>
                      </a:r>
                    </a:p>
                  </a:txBody>
                  <a:tcPr marL="71568" marR="71568" marT="35785" marB="3578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조선백자</a:t>
                      </a:r>
                    </a:p>
                  </a:txBody>
                  <a:tcPr marL="71568" marR="71568" marT="35785" marB="3578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청화백자</a:t>
                      </a:r>
                    </a:p>
                  </a:txBody>
                  <a:tcPr marL="71568" marR="71568" marT="35785" marB="3578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철화백자</a:t>
                      </a:r>
                    </a:p>
                  </a:txBody>
                  <a:tcPr marL="71568" marR="71568" marT="35785" marB="3578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동화백자</a:t>
                      </a:r>
                    </a:p>
                  </a:txBody>
                  <a:tcPr marL="71568" marR="71568" marT="35785" marB="3578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결과</a:t>
                      </a:r>
                    </a:p>
                  </a:txBody>
                  <a:tcPr marL="71568" marR="71568" marT="35785" marB="3578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4772030"/>
                  </a:ext>
                </a:extLst>
              </a:tr>
              <a:tr h="34774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한글</a:t>
                      </a:r>
                      <a:endParaRPr lang="en-US" altLang="ko-KR" sz="11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1568" marR="71568" marT="35785" marB="3578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간단히</a:t>
                      </a:r>
                    </a:p>
                  </a:txBody>
                  <a:tcPr marL="71568" marR="71568" marT="35785" marB="35785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0.2035</a:t>
                      </a:r>
                      <a:endParaRPr lang="ko-KR" altLang="en-US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1568" marR="71568" marT="35785" marB="35785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0.2046</a:t>
                      </a:r>
                      <a:endParaRPr lang="ko-KR" altLang="en-US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1568" marR="71568" marT="35785" marB="35785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0.2112</a:t>
                      </a:r>
                      <a:endParaRPr lang="ko-KR" altLang="en-US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1568" marR="71568" marT="35785" marB="35785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0.1955</a:t>
                      </a:r>
                      <a:endParaRPr lang="ko-KR" altLang="en-US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1568" marR="71568" marT="35785" marB="35785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철화백자</a:t>
                      </a:r>
                    </a:p>
                  </a:txBody>
                  <a:tcPr marL="71568" marR="71568" marT="35785" marB="35785" anchor="ctr"/>
                </a:tc>
                <a:extLst>
                  <a:ext uri="{0D108BD9-81ED-4DB2-BD59-A6C34878D82A}">
                    <a16:rowId xmlns:a16="http://schemas.microsoft.com/office/drawing/2014/main" val="1808729613"/>
                  </a:ext>
                </a:extLst>
              </a:tr>
              <a:tr h="347742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자세히 </a:t>
                      </a:r>
                      <a:endParaRPr lang="ko-KR" altLang="en-US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1568" marR="71568" marT="35785" marB="35785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0.2087</a:t>
                      </a:r>
                      <a:endParaRPr lang="ko-KR" altLang="en-US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1568" marR="71568" marT="35785" marB="35785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0.2065</a:t>
                      </a:r>
                      <a:endParaRPr lang="ko-KR" altLang="en-US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1568" marR="71568" marT="35785" marB="35785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0.2080</a:t>
                      </a:r>
                      <a:endParaRPr lang="ko-KR" altLang="en-US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1568" marR="71568" marT="35785" marB="35785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0.2088</a:t>
                      </a:r>
                      <a:endParaRPr lang="ko-KR" altLang="en-US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1568" marR="71568" marT="35785" marB="35785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동화백자</a:t>
                      </a:r>
                    </a:p>
                  </a:txBody>
                  <a:tcPr marL="71568" marR="71568" marT="35785" marB="35785" anchor="ctr"/>
                </a:tc>
                <a:extLst>
                  <a:ext uri="{0D108BD9-81ED-4DB2-BD59-A6C34878D82A}">
                    <a16:rowId xmlns:a16="http://schemas.microsoft.com/office/drawing/2014/main" val="3462393297"/>
                  </a:ext>
                </a:extLst>
              </a:tr>
              <a:tr h="34774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영어</a:t>
                      </a:r>
                    </a:p>
                  </a:txBody>
                  <a:tcPr marL="71568" marR="71568" marT="35785" marB="3578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간단히</a:t>
                      </a:r>
                    </a:p>
                  </a:txBody>
                  <a:tcPr marL="71568" marR="71568" marT="35785" marB="35785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0.3299</a:t>
                      </a:r>
                      <a:endParaRPr lang="ko-KR" altLang="en-US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1568" marR="71568" marT="35785" marB="35785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0.2467</a:t>
                      </a:r>
                      <a:endParaRPr lang="ko-KR" altLang="en-US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1568" marR="71568" marT="35785" marB="35785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0.2784</a:t>
                      </a:r>
                      <a:endParaRPr lang="ko-KR" altLang="en-US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1568" marR="71568" marT="35785" marB="35785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0.2611</a:t>
                      </a:r>
                      <a:endParaRPr lang="ko-KR" altLang="en-US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1568" marR="71568" marT="35785" marB="35785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조선백자</a:t>
                      </a:r>
                    </a:p>
                  </a:txBody>
                  <a:tcPr marL="71568" marR="71568" marT="35785" marB="35785" anchor="ctr"/>
                </a:tc>
                <a:extLst>
                  <a:ext uri="{0D108BD9-81ED-4DB2-BD59-A6C34878D82A}">
                    <a16:rowId xmlns:a16="http://schemas.microsoft.com/office/drawing/2014/main" val="2174313628"/>
                  </a:ext>
                </a:extLst>
              </a:tr>
              <a:tr h="347742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자세히 </a:t>
                      </a:r>
                    </a:p>
                  </a:txBody>
                  <a:tcPr marL="71568" marR="71568" marT="35785" marB="35785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0.3756</a:t>
                      </a:r>
                      <a:endParaRPr lang="ko-KR" altLang="en-US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1568" marR="71568" marT="35785" marB="35785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0.2912</a:t>
                      </a:r>
                      <a:endParaRPr lang="ko-KR" altLang="en-US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1568" marR="71568" marT="35785" marB="35785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0.3306</a:t>
                      </a:r>
                      <a:endParaRPr lang="ko-KR" altLang="en-US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1568" marR="71568" marT="35785" marB="35785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0.3083</a:t>
                      </a:r>
                      <a:endParaRPr lang="ko-KR" altLang="en-US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1568" marR="71568" marT="35785" marB="35785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조선백자</a:t>
                      </a:r>
                    </a:p>
                  </a:txBody>
                  <a:tcPr marL="71568" marR="71568" marT="35785" marB="35785" anchor="ctr"/>
                </a:tc>
                <a:extLst>
                  <a:ext uri="{0D108BD9-81ED-4DB2-BD59-A6C34878D82A}">
                    <a16:rowId xmlns:a16="http://schemas.microsoft.com/office/drawing/2014/main" val="1317533039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1916003F-0703-2D1E-C51F-DF9A0463A584}"/>
              </a:ext>
            </a:extLst>
          </p:cNvPr>
          <p:cNvSpPr/>
          <p:nvPr/>
        </p:nvSpPr>
        <p:spPr>
          <a:xfrm>
            <a:off x="390849" y="287414"/>
            <a:ext cx="9124301" cy="467559"/>
          </a:xfrm>
          <a:prstGeom prst="rect">
            <a:avLst/>
          </a:prstGeom>
          <a:solidFill>
            <a:srgbClr val="8C161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03) </a:t>
            </a:r>
            <a:r>
              <a:rPr lang="ko-KR" altLang="en-US" sz="24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실험 설명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7D719AD-2E64-0F77-FE67-D1EEB2D3D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377" y="1197170"/>
            <a:ext cx="1788696" cy="2009430"/>
          </a:xfrm>
          <a:prstGeom prst="rect">
            <a:avLst/>
          </a:prstGeom>
        </p:spPr>
      </p:pic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3534664A-EA67-9163-F25E-C416B1E11852}"/>
              </a:ext>
            </a:extLst>
          </p:cNvPr>
          <p:cNvSpPr/>
          <p:nvPr/>
        </p:nvSpPr>
        <p:spPr>
          <a:xfrm rot="5400000">
            <a:off x="7369120" y="3613183"/>
            <a:ext cx="363210" cy="285385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1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BBCC1E76-E376-B98B-52B3-D0772923064E}"/>
              </a:ext>
            </a:extLst>
          </p:cNvPr>
          <p:cNvSpPr txBox="1">
            <a:spLocks/>
          </p:cNvSpPr>
          <p:nvPr/>
        </p:nvSpPr>
        <p:spPr>
          <a:xfrm>
            <a:off x="6721584" y="3236873"/>
            <a:ext cx="1658281" cy="332789"/>
          </a:xfrm>
          <a:prstGeom prst="rect">
            <a:avLst/>
          </a:prstGeom>
        </p:spPr>
        <p:txBody>
          <a:bodyPr vert="horz" lIns="71568" tIns="35785" rIns="71568" bIns="35785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altLang="ko-KR" sz="145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[</a:t>
            </a:r>
            <a:r>
              <a:rPr lang="ko-KR" altLang="en-US" sz="145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조선 백자 이미지</a:t>
            </a:r>
            <a:r>
              <a:rPr lang="en-US" altLang="ko-KR" sz="145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]</a:t>
            </a:r>
          </a:p>
        </p:txBody>
      </p:sp>
      <p:graphicFrame>
        <p:nvGraphicFramePr>
          <p:cNvPr id="17" name="차트 16">
            <a:extLst>
              <a:ext uri="{FF2B5EF4-FFF2-40B4-BE49-F238E27FC236}">
                <a16:creationId xmlns:a16="http://schemas.microsoft.com/office/drawing/2014/main" id="{FDE558E6-6AF0-5D45-BDA2-5A3175A1D5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9090960"/>
              </p:ext>
            </p:extLst>
          </p:nvPr>
        </p:nvGraphicFramePr>
        <p:xfrm>
          <a:off x="256309" y="366707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42163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1F718-4473-F8EC-F4C9-C9B8AD483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5D3D50-B72E-EFE8-A8B6-F982D7D57A3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43172" y="1238279"/>
            <a:ext cx="8819653" cy="5100637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ko-KR" sz="2400" b="1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1.    </a:t>
            </a:r>
            <a:r>
              <a:rPr lang="ko-KR" altLang="en-US" sz="2400" b="1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데이터셋의 부족</a:t>
            </a:r>
            <a:endParaRPr lang="en-US" altLang="ko-KR" sz="2400" b="1" spc="-117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YOLO</a:t>
            </a:r>
            <a:r>
              <a:rPr lang="ko-KR" altLang="en-US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와 </a:t>
            </a:r>
            <a:r>
              <a:rPr lang="en-US" altLang="ko-KR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CLIP</a:t>
            </a:r>
            <a:r>
              <a:rPr lang="ko-KR" altLang="en-US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을 </a:t>
            </a:r>
            <a:r>
              <a:rPr lang="en-US" altLang="ko-KR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fine-tuning </a:t>
            </a:r>
            <a:r>
              <a:rPr lang="ko-KR" altLang="en-US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하는 과정에서 사용한 도자기 데이터셋의 규모가 작고</a:t>
            </a:r>
            <a:r>
              <a:rPr lang="en-US" altLang="ko-KR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일부 유형</a:t>
            </a:r>
            <a:r>
              <a:rPr lang="en-US" altLang="ko-KR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예</a:t>
            </a:r>
            <a:r>
              <a:rPr lang="en-US" altLang="ko-KR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진사백자</a:t>
            </a:r>
            <a:r>
              <a:rPr lang="en-US" altLang="ko-KR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철화백자</a:t>
            </a:r>
            <a:r>
              <a:rPr lang="en-US" altLang="ko-KR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등</a:t>
            </a:r>
            <a:r>
              <a:rPr lang="en-US" altLang="ko-KR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은 샘플 수가 충분하지 않아 모델의 일반화 성능이 떨어질 </a:t>
            </a:r>
            <a:endParaRPr lang="en-US" altLang="ko-KR" sz="1700" spc="-117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가능성이 있다</a:t>
            </a:r>
            <a:r>
              <a:rPr lang="en-US" altLang="ko-KR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sz="2400" spc="-117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400" b="1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2.   </a:t>
            </a:r>
            <a:r>
              <a:rPr lang="ko-KR" altLang="en-US" sz="2400" b="1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분류 카테고리의 부족</a:t>
            </a:r>
            <a:endParaRPr lang="en-US" altLang="ko-KR" sz="2400" b="1" spc="-117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814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앞선 문제점인 학습 데이터셋의 규모가 부족해 분류 대상을 청자</a:t>
            </a:r>
            <a:r>
              <a:rPr lang="en-US" altLang="ko-KR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</a:t>
            </a:r>
            <a:r>
              <a:rPr lang="ko-KR" altLang="en-US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백자</a:t>
            </a:r>
            <a:r>
              <a:rPr lang="en-US" altLang="ko-KR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</a:t>
            </a:r>
            <a:r>
              <a:rPr lang="ko-KR" altLang="en-US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기타로 한정하고 있어 </a:t>
            </a:r>
            <a:endParaRPr lang="en-US" altLang="ko-KR" sz="1700" spc="-117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다양한 형태와 문양을 모두 포괄하여 분류하기에 부족하다</a:t>
            </a:r>
            <a:r>
              <a:rPr lang="en-US" altLang="ko-KR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sz="2400" b="1" spc="-117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400" b="1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3.   CLIP</a:t>
            </a:r>
            <a:r>
              <a:rPr lang="ko-KR" altLang="en-US" sz="2400" b="1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프롬프트 설계</a:t>
            </a:r>
            <a:endParaRPr lang="en-US" altLang="ko-KR" sz="2400" b="1" spc="-117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CLIP </a:t>
            </a:r>
            <a:r>
              <a:rPr lang="ko-KR" altLang="en-US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모델의 </a:t>
            </a:r>
            <a:r>
              <a:rPr lang="en-US" altLang="ko-KR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zero-shot </a:t>
            </a:r>
            <a:r>
              <a:rPr lang="ko-KR" altLang="en-US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분류 성능이 프롬프트 설계에 따라 성능의 편차가 있는데</a:t>
            </a:r>
            <a:r>
              <a:rPr lang="en-US" altLang="ko-KR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특히 한국어</a:t>
            </a:r>
            <a:r>
              <a:rPr lang="en-US" altLang="ko-KR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</a:t>
            </a:r>
            <a:r>
              <a:rPr lang="ko-KR" altLang="en-US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영어 간 표현 차이로 인해 세밀한 구분이 어려운 경우가 있었다</a:t>
            </a:r>
            <a:r>
              <a:rPr lang="en-US" altLang="ko-KR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B6DAFFB-0C1A-347E-3ED7-E51B6FF49E2C}"/>
              </a:ext>
            </a:extLst>
          </p:cNvPr>
          <p:cNvSpPr/>
          <p:nvPr/>
        </p:nvSpPr>
        <p:spPr>
          <a:xfrm>
            <a:off x="390849" y="287414"/>
            <a:ext cx="9124301" cy="467559"/>
          </a:xfrm>
          <a:prstGeom prst="rect">
            <a:avLst/>
          </a:prstGeom>
          <a:solidFill>
            <a:srgbClr val="8C161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04) </a:t>
            </a:r>
            <a:r>
              <a:rPr lang="ko-KR" altLang="en-US" sz="24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한계</a:t>
            </a:r>
          </a:p>
        </p:txBody>
      </p:sp>
    </p:spTree>
    <p:extLst>
      <p:ext uri="{BB962C8B-B14F-4D97-AF65-F5344CB8AC3E}">
        <p14:creationId xmlns:p14="http://schemas.microsoft.com/office/powerpoint/2010/main" val="1826288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89A94-D3CF-3BBC-19A2-D24123C6A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2F1508-903D-E997-96CA-F14D98767A6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3300" y="4077067"/>
            <a:ext cx="9121850" cy="184207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본 연구는 </a:t>
            </a:r>
            <a:r>
              <a:rPr lang="en-US" altLang="ko-KR" sz="1700" b="1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YOLOv8</a:t>
            </a:r>
            <a:r>
              <a:rPr lang="ko-KR" altLang="en-US" sz="1700" b="1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과 </a:t>
            </a:r>
            <a:r>
              <a:rPr lang="en-US" altLang="ko-KR" sz="1700" b="1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CLIP</a:t>
            </a:r>
            <a:r>
              <a:rPr lang="ko-KR" altLang="en-US" sz="1700" b="1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을 결합한 한국 전통 도자기 인식 및 분류 프레임워크</a:t>
            </a:r>
            <a:r>
              <a:rPr lang="ko-KR" altLang="en-US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를 제안하였다</a:t>
            </a:r>
            <a:r>
              <a:rPr lang="en-US" altLang="ko-KR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향후 데이터셋의 증강과 한국어 프롬프트를 더 상세히 지원하는 </a:t>
            </a:r>
            <a:r>
              <a:rPr lang="en-US" altLang="ko-KR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CLIP </a:t>
            </a:r>
            <a:r>
              <a:rPr lang="ko-KR" altLang="en-US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모델 및 다국어 </a:t>
            </a:r>
            <a:r>
              <a:rPr lang="ko-KR" altLang="en-US" sz="1700" spc="-117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임베딩</a:t>
            </a:r>
            <a:r>
              <a:rPr lang="ko-KR" altLang="en-US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모델을 활용한다면</a:t>
            </a:r>
            <a:r>
              <a:rPr lang="en-US" altLang="ko-KR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더욱 나은 성능을 기대할 수 있고</a:t>
            </a:r>
            <a:r>
              <a:rPr lang="en-US" altLang="ko-KR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도자기 뿐만 아니라 문화유산 전반 인식 모델로 확장해나가 이후 역사적 고증에도 활용할 가능성이 있다</a:t>
            </a:r>
            <a:r>
              <a:rPr lang="en-US" altLang="ko-KR" sz="17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pic>
        <p:nvPicPr>
          <p:cNvPr id="19" name="내용 개체 틀 6" descr="사람, 의류, 인간의 얼굴, 도기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3B4535-EFB9-731E-52AB-8570B60CF3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99" t="37768"/>
          <a:stretch>
            <a:fillRect/>
          </a:stretch>
        </p:blipFill>
        <p:spPr>
          <a:xfrm>
            <a:off x="800464" y="1502194"/>
            <a:ext cx="2260235" cy="13753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9EDA1D27-787C-F689-74DA-2848AB6DFEFB}"/>
              </a:ext>
            </a:extLst>
          </p:cNvPr>
          <p:cNvSpPr/>
          <p:nvPr/>
        </p:nvSpPr>
        <p:spPr>
          <a:xfrm>
            <a:off x="3333498" y="2016021"/>
            <a:ext cx="549550" cy="23142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10"/>
          </a:p>
        </p:txBody>
      </p:sp>
      <p:sp>
        <p:nvSpPr>
          <p:cNvPr id="23" name="내용 개체 틀 2">
            <a:extLst>
              <a:ext uri="{FF2B5EF4-FFF2-40B4-BE49-F238E27FC236}">
                <a16:creationId xmlns:a16="http://schemas.microsoft.com/office/drawing/2014/main" id="{502DB4A6-084D-774A-D1FE-DD7D068E1044}"/>
              </a:ext>
            </a:extLst>
          </p:cNvPr>
          <p:cNvSpPr txBox="1">
            <a:spLocks/>
          </p:cNvSpPr>
          <p:nvPr/>
        </p:nvSpPr>
        <p:spPr>
          <a:xfrm>
            <a:off x="3099495" y="2286926"/>
            <a:ext cx="937809" cy="288430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lvl1pPr marL="251986" indent="-251986" algn="l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Char char="•"/>
              <a:defRPr sz="30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5957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12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인식 및 </a:t>
            </a:r>
            <a:r>
              <a:rPr lang="en-US" altLang="ko-KR" sz="12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crop</a:t>
            </a:r>
          </a:p>
        </p:txBody>
      </p:sp>
      <p:sp>
        <p:nvSpPr>
          <p:cNvPr id="24" name="내용 개체 틀 2">
            <a:extLst>
              <a:ext uri="{FF2B5EF4-FFF2-40B4-BE49-F238E27FC236}">
                <a16:creationId xmlns:a16="http://schemas.microsoft.com/office/drawing/2014/main" id="{D4AF0A59-F45A-5C27-6914-BC8909BDC1BA}"/>
              </a:ext>
            </a:extLst>
          </p:cNvPr>
          <p:cNvSpPr txBox="1">
            <a:spLocks/>
          </p:cNvSpPr>
          <p:nvPr/>
        </p:nvSpPr>
        <p:spPr>
          <a:xfrm>
            <a:off x="3235604" y="1690133"/>
            <a:ext cx="658958" cy="286409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lvl1pPr marL="251986" indent="-251986" algn="l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Char char="•"/>
              <a:defRPr sz="30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5957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[YOLO]</a:t>
            </a:r>
          </a:p>
        </p:txBody>
      </p:sp>
      <p:pic>
        <p:nvPicPr>
          <p:cNvPr id="25" name="그림 24" descr="도기류, 도기, 도자기, 피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7A18828-3DD6-4363-90F1-DADF0B156E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527" y="1431668"/>
            <a:ext cx="798056" cy="13850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6" name="내용 개체 틀 2">
            <a:extLst>
              <a:ext uri="{FF2B5EF4-FFF2-40B4-BE49-F238E27FC236}">
                <a16:creationId xmlns:a16="http://schemas.microsoft.com/office/drawing/2014/main" id="{5C251528-A17E-5EC6-9789-5E3B72464598}"/>
              </a:ext>
            </a:extLst>
          </p:cNvPr>
          <p:cNvSpPr txBox="1">
            <a:spLocks/>
          </p:cNvSpPr>
          <p:nvPr/>
        </p:nvSpPr>
        <p:spPr>
          <a:xfrm>
            <a:off x="5993282" y="2932389"/>
            <a:ext cx="762119" cy="3034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82953" tIns="41476" rIns="82953" bIns="41476" rtlCol="0" anchor="ctr">
            <a:normAutofit lnSpcReduction="10000"/>
          </a:bodyPr>
          <a:lstStyle>
            <a:lvl1pPr marL="251986" indent="-251986" algn="l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Char char="•"/>
              <a:defRPr sz="30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5957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altLang="ko-KR" sz="1452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celadon</a:t>
            </a:r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1B5B2D5B-C763-2BD1-8284-3C9290E8CE65}"/>
              </a:ext>
            </a:extLst>
          </p:cNvPr>
          <p:cNvSpPr txBox="1">
            <a:spLocks/>
          </p:cNvSpPr>
          <p:nvPr/>
        </p:nvSpPr>
        <p:spPr>
          <a:xfrm>
            <a:off x="5072781" y="2285741"/>
            <a:ext cx="1301560" cy="282652"/>
          </a:xfrm>
          <a:prstGeom prst="rect">
            <a:avLst/>
          </a:prstGeom>
        </p:spPr>
        <p:txBody>
          <a:bodyPr vert="horz" lIns="82953" tIns="41476" rIns="82953" bIns="41476" rtlCol="0">
            <a:normAutofit/>
          </a:bodyPr>
          <a:lstStyle>
            <a:lvl1pPr marL="251986" indent="-251986" algn="l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Char char="•"/>
              <a:defRPr sz="30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5957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2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12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차 분류</a:t>
            </a:r>
            <a:endParaRPr lang="en-US" altLang="ko-KR" sz="1200" spc="-117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8" name="화살표: 오른쪽 27">
            <a:extLst>
              <a:ext uri="{FF2B5EF4-FFF2-40B4-BE49-F238E27FC236}">
                <a16:creationId xmlns:a16="http://schemas.microsoft.com/office/drawing/2014/main" id="{509C5174-DBB0-67ED-E385-D23A7BEBF989}"/>
              </a:ext>
            </a:extLst>
          </p:cNvPr>
          <p:cNvSpPr/>
          <p:nvPr/>
        </p:nvSpPr>
        <p:spPr>
          <a:xfrm>
            <a:off x="7011646" y="2013276"/>
            <a:ext cx="549550" cy="23142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10"/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459507E9-094F-4AEC-3D2A-58354ECB00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0143" y="1425968"/>
            <a:ext cx="813079" cy="14532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2" name="그림 31" descr="도기류, 도기, 도자기, 피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2885C0A-4DD4-FA2E-1FA9-6F05B4B697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4265" y="1446191"/>
            <a:ext cx="798056" cy="13850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F440D77A-3852-4736-CABC-2CF072CE3CF0}"/>
              </a:ext>
            </a:extLst>
          </p:cNvPr>
          <p:cNvSpPr/>
          <p:nvPr/>
        </p:nvSpPr>
        <p:spPr>
          <a:xfrm>
            <a:off x="7803061" y="1441302"/>
            <a:ext cx="717195" cy="1375375"/>
          </a:xfrm>
          <a:prstGeom prst="rect">
            <a:avLst/>
          </a:prstGeom>
          <a:noFill/>
          <a:ln w="28575">
            <a:solidFill>
              <a:srgbClr val="052A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14"/>
          </a:p>
        </p:txBody>
      </p:sp>
      <p:sp>
        <p:nvSpPr>
          <p:cNvPr id="34" name="내용 개체 틀 2">
            <a:extLst>
              <a:ext uri="{FF2B5EF4-FFF2-40B4-BE49-F238E27FC236}">
                <a16:creationId xmlns:a16="http://schemas.microsoft.com/office/drawing/2014/main" id="{DF901AE6-06D6-FC49-C32D-5FED244A0083}"/>
              </a:ext>
            </a:extLst>
          </p:cNvPr>
          <p:cNvSpPr txBox="1">
            <a:spLocks/>
          </p:cNvSpPr>
          <p:nvPr/>
        </p:nvSpPr>
        <p:spPr>
          <a:xfrm>
            <a:off x="6864157" y="2292703"/>
            <a:ext cx="1544669" cy="282652"/>
          </a:xfrm>
          <a:prstGeom prst="rect">
            <a:avLst/>
          </a:prstGeom>
        </p:spPr>
        <p:txBody>
          <a:bodyPr vert="horz" lIns="82953" tIns="41476" rIns="82953" bIns="41476" rtlCol="0">
            <a:normAutofit/>
          </a:bodyPr>
          <a:lstStyle>
            <a:lvl1pPr marL="251986" indent="-251986" algn="l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Char char="•"/>
              <a:defRPr sz="30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5957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1200" spc="-117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제로샷</a:t>
            </a:r>
            <a:r>
              <a:rPr lang="ko-KR" altLang="en-US" sz="12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분류</a:t>
            </a:r>
            <a:endParaRPr lang="en-US" altLang="ko-KR" sz="1200" spc="-117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5" name="내용 개체 틀 2">
            <a:extLst>
              <a:ext uri="{FF2B5EF4-FFF2-40B4-BE49-F238E27FC236}">
                <a16:creationId xmlns:a16="http://schemas.microsoft.com/office/drawing/2014/main" id="{5AEEDE78-E709-6BE1-F8DE-9EDEDDCCB696}"/>
              </a:ext>
            </a:extLst>
          </p:cNvPr>
          <p:cNvSpPr txBox="1">
            <a:spLocks/>
          </p:cNvSpPr>
          <p:nvPr/>
        </p:nvSpPr>
        <p:spPr>
          <a:xfrm>
            <a:off x="7561196" y="2921873"/>
            <a:ext cx="1321603" cy="303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82953" tIns="41476" rIns="82953" bIns="41476" rtlCol="0" anchor="ctr">
            <a:normAutofit lnSpcReduction="10000"/>
          </a:bodyPr>
          <a:lstStyle>
            <a:lvl1pPr marL="251986" indent="-251986" algn="l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Char char="•"/>
              <a:defRPr sz="30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5957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altLang="ko-KR" sz="1452" spc="-117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Goryeo_celadon</a:t>
            </a:r>
            <a:r>
              <a:rPr lang="en-US" altLang="ko-KR" sz="1452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</a:p>
        </p:txBody>
      </p:sp>
      <p:sp>
        <p:nvSpPr>
          <p:cNvPr id="36" name="내용 개체 틀 2">
            <a:extLst>
              <a:ext uri="{FF2B5EF4-FFF2-40B4-BE49-F238E27FC236}">
                <a16:creationId xmlns:a16="http://schemas.microsoft.com/office/drawing/2014/main" id="{1EE0BEF4-6C3D-7266-24BB-63C70F81E54D}"/>
              </a:ext>
            </a:extLst>
          </p:cNvPr>
          <p:cNvSpPr txBox="1">
            <a:spLocks/>
          </p:cNvSpPr>
          <p:nvPr/>
        </p:nvSpPr>
        <p:spPr>
          <a:xfrm>
            <a:off x="6189598" y="984885"/>
            <a:ext cx="976546" cy="398051"/>
          </a:xfrm>
          <a:prstGeom prst="rect">
            <a:avLst/>
          </a:prstGeom>
        </p:spPr>
        <p:txBody>
          <a:bodyPr vert="horz" lIns="82953" tIns="41476" rIns="82953" bIns="41476" rtlCol="0">
            <a:normAutofit/>
          </a:bodyPr>
          <a:lstStyle>
            <a:lvl1pPr marL="251986" indent="-251986" algn="l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Char char="•"/>
              <a:defRPr sz="30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5957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altLang="ko-KR" sz="1452" spc="-117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7" name="내용 개체 틀 2">
            <a:extLst>
              <a:ext uri="{FF2B5EF4-FFF2-40B4-BE49-F238E27FC236}">
                <a16:creationId xmlns:a16="http://schemas.microsoft.com/office/drawing/2014/main" id="{CBC79C63-190C-287F-85C3-5E9F425F9AC7}"/>
              </a:ext>
            </a:extLst>
          </p:cNvPr>
          <p:cNvSpPr txBox="1">
            <a:spLocks/>
          </p:cNvSpPr>
          <p:nvPr/>
        </p:nvSpPr>
        <p:spPr>
          <a:xfrm>
            <a:off x="5130316" y="1704058"/>
            <a:ext cx="1130611" cy="543387"/>
          </a:xfrm>
          <a:prstGeom prst="rect">
            <a:avLst/>
          </a:prstGeom>
        </p:spPr>
        <p:txBody>
          <a:bodyPr vert="horz" lIns="82953" tIns="41476" rIns="82953" bIns="41476" rtlCol="0">
            <a:normAutofit/>
          </a:bodyPr>
          <a:lstStyle>
            <a:lvl1pPr marL="251986" indent="-251986" algn="l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Char char="•"/>
              <a:defRPr sz="30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5957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[CLIP]</a:t>
            </a:r>
          </a:p>
        </p:txBody>
      </p:sp>
      <p:sp>
        <p:nvSpPr>
          <p:cNvPr id="38" name="화살표: 오른쪽 37">
            <a:extLst>
              <a:ext uri="{FF2B5EF4-FFF2-40B4-BE49-F238E27FC236}">
                <a16:creationId xmlns:a16="http://schemas.microsoft.com/office/drawing/2014/main" id="{AEA42493-9BD6-2400-6385-2F699A8F2C2C}"/>
              </a:ext>
            </a:extLst>
          </p:cNvPr>
          <p:cNvSpPr/>
          <p:nvPr/>
        </p:nvSpPr>
        <p:spPr>
          <a:xfrm>
            <a:off x="5174013" y="2016021"/>
            <a:ext cx="549550" cy="23142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10"/>
          </a:p>
        </p:txBody>
      </p:sp>
      <p:sp>
        <p:nvSpPr>
          <p:cNvPr id="39" name="내용 개체 틀 2">
            <a:extLst>
              <a:ext uri="{FF2B5EF4-FFF2-40B4-BE49-F238E27FC236}">
                <a16:creationId xmlns:a16="http://schemas.microsoft.com/office/drawing/2014/main" id="{B2C24A39-F9BC-3B79-796A-6FC9DB06C8A6}"/>
              </a:ext>
            </a:extLst>
          </p:cNvPr>
          <p:cNvSpPr txBox="1">
            <a:spLocks/>
          </p:cNvSpPr>
          <p:nvPr/>
        </p:nvSpPr>
        <p:spPr>
          <a:xfrm>
            <a:off x="6973164" y="1703114"/>
            <a:ext cx="1130611" cy="543387"/>
          </a:xfrm>
          <a:prstGeom prst="rect">
            <a:avLst/>
          </a:prstGeom>
        </p:spPr>
        <p:txBody>
          <a:bodyPr vert="horz" lIns="82953" tIns="41476" rIns="82953" bIns="41476" rtlCol="0">
            <a:normAutofit/>
          </a:bodyPr>
          <a:lstStyle>
            <a:lvl1pPr marL="251986" indent="-251986" algn="l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Char char="•"/>
              <a:defRPr sz="30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5957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500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[CLIP]</a:t>
            </a: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852C7D63-7DD2-FF97-8062-5418958B1A97}"/>
              </a:ext>
            </a:extLst>
          </p:cNvPr>
          <p:cNvCxnSpPr>
            <a:cxnSpLocks/>
          </p:cNvCxnSpPr>
          <p:nvPr/>
        </p:nvCxnSpPr>
        <p:spPr>
          <a:xfrm>
            <a:off x="351070" y="3527696"/>
            <a:ext cx="9124301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4F532ED9-A5B5-246C-52D1-09909CB8E7BB}"/>
              </a:ext>
            </a:extLst>
          </p:cNvPr>
          <p:cNvSpPr/>
          <p:nvPr/>
        </p:nvSpPr>
        <p:spPr>
          <a:xfrm>
            <a:off x="390849" y="287414"/>
            <a:ext cx="9124301" cy="467559"/>
          </a:xfrm>
          <a:prstGeom prst="rect">
            <a:avLst/>
          </a:prstGeom>
          <a:solidFill>
            <a:srgbClr val="8C161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05) </a:t>
            </a:r>
            <a:r>
              <a:rPr lang="ko-KR" altLang="en-US" sz="24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결론</a:t>
            </a:r>
          </a:p>
        </p:txBody>
      </p:sp>
    </p:spTree>
    <p:extLst>
      <p:ext uri="{BB962C8B-B14F-4D97-AF65-F5344CB8AC3E}">
        <p14:creationId xmlns:p14="http://schemas.microsoft.com/office/powerpoint/2010/main" val="453406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CFD73CB-B9E2-FECA-D8C9-43B77EB62A56}"/>
              </a:ext>
            </a:extLst>
          </p:cNvPr>
          <p:cNvSpPr/>
          <p:nvPr/>
        </p:nvSpPr>
        <p:spPr>
          <a:xfrm>
            <a:off x="390849" y="287414"/>
            <a:ext cx="9124301" cy="467559"/>
          </a:xfrm>
          <a:prstGeom prst="rect">
            <a:avLst/>
          </a:prstGeom>
          <a:solidFill>
            <a:srgbClr val="8C161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05) </a:t>
            </a:r>
            <a:r>
              <a:rPr lang="ko-KR" altLang="en-US" sz="24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결론</a:t>
            </a: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E807C8DA-8020-701D-2F84-2D60C1D60D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82"/>
          <a:stretch>
            <a:fillRect/>
          </a:stretch>
        </p:blipFill>
        <p:spPr>
          <a:xfrm>
            <a:off x="324244" y="1405212"/>
            <a:ext cx="5073804" cy="4496464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E92FCEBA-BE8F-D425-130A-97EEF9C79743}"/>
              </a:ext>
            </a:extLst>
          </p:cNvPr>
          <p:cNvSpPr txBox="1">
            <a:spLocks/>
          </p:cNvSpPr>
          <p:nvPr/>
        </p:nvSpPr>
        <p:spPr>
          <a:xfrm>
            <a:off x="1942364" y="5894716"/>
            <a:ext cx="2027336" cy="350848"/>
          </a:xfrm>
          <a:prstGeom prst="rect">
            <a:avLst/>
          </a:prstGeom>
        </p:spPr>
        <p:txBody>
          <a:bodyPr vert="horz" lIns="71568" tIns="35785" rIns="71568" bIns="35785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altLang="ko-KR" sz="1452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[</a:t>
            </a:r>
            <a:r>
              <a:rPr lang="ko-KR" altLang="en-US" sz="1452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최종 분류 결과 이미지</a:t>
            </a:r>
            <a:r>
              <a:rPr lang="en-US" altLang="ko-KR" sz="1452" spc="-117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B555AB-BFB4-8713-0AE1-3EF2D9756FAC}"/>
              </a:ext>
            </a:extLst>
          </p:cNvPr>
          <p:cNvSpPr txBox="1"/>
          <p:nvPr/>
        </p:nvSpPr>
        <p:spPr>
          <a:xfrm>
            <a:off x="5332278" y="1547771"/>
            <a:ext cx="4266102" cy="4211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0" marR="0" indent="-190500" fontAlgn="base" latinLnBrk="1">
              <a:lnSpc>
                <a:spcPct val="150000"/>
              </a:lnSpc>
              <a:buNone/>
            </a:pPr>
            <a:r>
              <a:rPr lang="en-US" altLang="ko-KR" sz="1450" kern="0" spc="-60" dirty="0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[</a:t>
            </a:r>
            <a:r>
              <a:rPr lang="ko-KR" altLang="en-US" sz="1450" kern="0" spc="-60" dirty="0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참고 문헌</a:t>
            </a:r>
            <a:r>
              <a:rPr lang="en-US" altLang="ko-KR" sz="1450" kern="0" spc="-60" dirty="0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]</a:t>
            </a:r>
          </a:p>
          <a:p>
            <a:pPr marL="381000" marR="0" indent="-190500" fontAlgn="base" latinLnBrk="1">
              <a:lnSpc>
                <a:spcPct val="150000"/>
              </a:lnSpc>
              <a:buNone/>
            </a:pPr>
            <a:r>
              <a:rPr lang="en-US" altLang="ko-KR" sz="1100" kern="0" spc="-60" dirty="0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[1] J. Redmon et al., “You Only Look Once: Unified, Real-Time Object Detection,” Proc. CVPR, 2016.</a:t>
            </a:r>
          </a:p>
          <a:p>
            <a:pPr marL="381000" marR="0" indent="-190500" fontAlgn="base" latinLnBrk="1">
              <a:lnSpc>
                <a:spcPct val="150000"/>
              </a:lnSpc>
              <a:buNone/>
            </a:pPr>
            <a:r>
              <a:rPr lang="en-US" altLang="ko-KR" sz="1100" kern="0" spc="-60" dirty="0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[2] A. Radford et al., “Learning Transferable Visual Models From Natural Language Supervision,” </a:t>
            </a:r>
            <a:r>
              <a:rPr lang="en-US" altLang="ko-KR" sz="1100" kern="0" spc="-60" dirty="0" err="1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arXiv</a:t>
            </a:r>
            <a:r>
              <a:rPr lang="en-US" altLang="ko-KR" sz="1100" kern="0" spc="-60" dirty="0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preprint arXiv:2103.00020, 2021.</a:t>
            </a:r>
          </a:p>
          <a:p>
            <a:pPr marL="381000" marR="0" indent="-190500" fontAlgn="base" latinLnBrk="1">
              <a:lnSpc>
                <a:spcPct val="150000"/>
              </a:lnSpc>
              <a:buNone/>
            </a:pPr>
            <a:r>
              <a:rPr lang="en-US" altLang="ko-KR" sz="1100" kern="0" spc="-60" dirty="0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[3]</a:t>
            </a:r>
            <a:r>
              <a:rPr lang="ko-KR" altLang="en-US" sz="1100" kern="0" spc="-60" dirty="0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이대호</a:t>
            </a:r>
            <a:r>
              <a:rPr lang="en-US" altLang="ko-KR" sz="1100" kern="0" spc="-60" dirty="0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 </a:t>
            </a:r>
            <a:r>
              <a:rPr lang="ko-KR" altLang="en-US" sz="1100" kern="0" spc="-60" dirty="0" err="1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정인택</a:t>
            </a:r>
            <a:r>
              <a:rPr lang="en-US" altLang="ko-KR" sz="1100" kern="0" spc="-60" dirty="0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 </a:t>
            </a:r>
            <a:r>
              <a:rPr lang="ko-KR" altLang="en-US" sz="1100" kern="0" spc="-60" dirty="0" err="1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최준두</a:t>
            </a:r>
            <a:r>
              <a:rPr lang="en-US" altLang="ko-KR" sz="1100" kern="0" spc="-60" dirty="0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 </a:t>
            </a:r>
            <a:r>
              <a:rPr lang="ko-KR" altLang="en-US" sz="1100" kern="0" spc="-60" dirty="0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김주영</a:t>
            </a:r>
            <a:r>
              <a:rPr lang="en-US" altLang="ko-KR" sz="1100" kern="0" spc="-60" dirty="0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 </a:t>
            </a:r>
            <a:r>
              <a:rPr lang="ko-KR" altLang="en-US" sz="1100" kern="0" spc="-60" dirty="0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김주연</a:t>
            </a:r>
            <a:r>
              <a:rPr lang="en-US" altLang="ko-KR" sz="1100" kern="0" spc="-60" dirty="0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 </a:t>
            </a:r>
            <a:r>
              <a:rPr lang="ko-KR" altLang="en-US" sz="1100" kern="0" spc="-60" dirty="0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홍진혁</a:t>
            </a:r>
            <a:r>
              <a:rPr lang="en-US" altLang="ko-KR" sz="1100" kern="0" spc="-60" dirty="0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. (2021-06-23). </a:t>
            </a:r>
            <a:r>
              <a:rPr lang="ko-KR" altLang="en-US" sz="1100" kern="0" spc="-60" dirty="0" err="1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딥러닝을</a:t>
            </a:r>
            <a:r>
              <a:rPr lang="ko-KR" altLang="en-US" sz="1100" kern="0" spc="-60" dirty="0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활용한 도자기 이미지 분류 이해</a:t>
            </a:r>
            <a:r>
              <a:rPr lang="en-US" altLang="ko-KR" sz="1100" kern="0" spc="-60" dirty="0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. </a:t>
            </a:r>
            <a:r>
              <a:rPr lang="ko-KR" altLang="en-US" sz="1100" kern="0" spc="-60" dirty="0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한국정보과학회 학술발표논문집</a:t>
            </a:r>
            <a:r>
              <a:rPr lang="en-US" altLang="ko-KR" sz="1100" kern="0" spc="-60" dirty="0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 </a:t>
            </a:r>
            <a:r>
              <a:rPr lang="ko-KR" altLang="en-US" sz="1100" kern="0" spc="-60" dirty="0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제주</a:t>
            </a:r>
            <a:r>
              <a:rPr lang="en-US" altLang="ko-KR" sz="1100" kern="0" spc="-60" dirty="0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.</a:t>
            </a:r>
            <a:endParaRPr lang="ko-KR" altLang="en-US" sz="1100" kern="0" spc="-60" dirty="0">
              <a:solidFill>
                <a:srgbClr val="000000"/>
              </a:solidFill>
              <a:effectLst/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  <a:p>
            <a:pPr marL="381000" marR="0" indent="-190500" fontAlgn="base" latinLnBrk="1">
              <a:lnSpc>
                <a:spcPct val="150000"/>
              </a:lnSpc>
              <a:buNone/>
            </a:pPr>
            <a:r>
              <a:rPr lang="en-US" altLang="ko-KR" sz="1100" kern="0" spc="-60" dirty="0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[4]</a:t>
            </a:r>
            <a:r>
              <a:rPr lang="ko-KR" altLang="en-US" sz="1100" kern="0" spc="-60" dirty="0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강우진</a:t>
            </a:r>
            <a:r>
              <a:rPr lang="en-US" altLang="ko-KR" sz="1100" kern="0" spc="-60" dirty="0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 </a:t>
            </a:r>
            <a:r>
              <a:rPr lang="ko-KR" altLang="en-US" sz="1100" kern="0" spc="-60" dirty="0" err="1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전준렬</a:t>
            </a:r>
            <a:r>
              <a:rPr lang="en-US" altLang="ko-KR" sz="1100" kern="0" spc="-60" dirty="0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 </a:t>
            </a:r>
            <a:r>
              <a:rPr lang="ko-KR" altLang="en-US" sz="1100" kern="0" spc="-60" dirty="0" err="1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김송이</a:t>
            </a:r>
            <a:r>
              <a:rPr lang="en-US" altLang="ko-KR" sz="1100" kern="0" spc="-60" dirty="0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 </a:t>
            </a:r>
            <a:r>
              <a:rPr lang="ko-KR" altLang="en-US" sz="1100" kern="0" spc="-60" dirty="0" err="1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박도윤</a:t>
            </a:r>
            <a:r>
              <a:rPr lang="en-US" altLang="ko-KR" sz="1100" kern="0" spc="-60" dirty="0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 </a:t>
            </a:r>
            <a:r>
              <a:rPr lang="ko-KR" altLang="en-US" sz="1100" kern="0" spc="-60" dirty="0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이지현</a:t>
            </a:r>
            <a:r>
              <a:rPr lang="en-US" altLang="ko-KR" sz="1100" kern="0" spc="-60" dirty="0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 </a:t>
            </a:r>
            <a:r>
              <a:rPr lang="ko-KR" altLang="en-US" sz="1100" kern="0" spc="-60" dirty="0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홍진혁</a:t>
            </a:r>
            <a:r>
              <a:rPr lang="en-US" altLang="ko-KR" sz="1100" kern="0" spc="-60" dirty="0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. (2019-06-26). Mask R-CNN</a:t>
            </a:r>
            <a:r>
              <a:rPr lang="ko-KR" altLang="en-US" sz="1100" kern="0" spc="-60" dirty="0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을 활용한 한국 문화유산</a:t>
            </a:r>
            <a:r>
              <a:rPr lang="en-US" altLang="ko-KR" sz="1100" kern="0" spc="-60" dirty="0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(</a:t>
            </a:r>
            <a:r>
              <a:rPr lang="ko-KR" altLang="en-US" sz="1100" kern="0" spc="-60" dirty="0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도자기와 토기</a:t>
            </a:r>
            <a:r>
              <a:rPr lang="en-US" altLang="ko-KR" sz="1100" kern="0" spc="-60" dirty="0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) </a:t>
            </a:r>
            <a:r>
              <a:rPr lang="ko-KR" altLang="en-US" sz="1100" kern="0" spc="-60" dirty="0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자동 검출 연구</a:t>
            </a:r>
            <a:r>
              <a:rPr lang="en-US" altLang="ko-KR" sz="1100" kern="0" spc="-60" dirty="0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.  </a:t>
            </a:r>
            <a:r>
              <a:rPr lang="ko-KR" altLang="en-US" sz="1100" kern="0" spc="-60" dirty="0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한국정보과학회 학술발표논문집</a:t>
            </a:r>
            <a:r>
              <a:rPr lang="en-US" altLang="ko-KR" sz="1100" kern="0" spc="-60" dirty="0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 </a:t>
            </a:r>
            <a:r>
              <a:rPr lang="ko-KR" altLang="en-US" sz="1100" kern="0" spc="-60" dirty="0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제주</a:t>
            </a:r>
            <a:r>
              <a:rPr lang="en-US" altLang="ko-KR" sz="1100" kern="0" spc="-60" dirty="0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.</a:t>
            </a:r>
            <a:endParaRPr lang="ko-KR" altLang="en-US" sz="1100" kern="0" spc="-60" dirty="0">
              <a:solidFill>
                <a:srgbClr val="000000"/>
              </a:solidFill>
              <a:effectLst/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  <a:p>
            <a:pPr marL="381000" marR="0" indent="-190500" fontAlgn="base" latinLnBrk="1">
              <a:lnSpc>
                <a:spcPct val="150000"/>
              </a:lnSpc>
              <a:buNone/>
            </a:pPr>
            <a:r>
              <a:rPr lang="en-US" altLang="ko-KR" sz="1100" kern="0" spc="-60" dirty="0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[5] Cardarelli, Lorenzo. 2025. "</a:t>
            </a:r>
            <a:r>
              <a:rPr lang="en-US" altLang="ko-KR" sz="1100" kern="0" spc="-60" dirty="0" err="1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PyPotteryLens</a:t>
            </a:r>
            <a:r>
              <a:rPr lang="en-US" altLang="ko-KR" sz="1100" kern="0" spc="-60" dirty="0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: An Open-Source Deep Learning Framework for Automated </a:t>
            </a:r>
            <a:r>
              <a:rPr lang="en-US" altLang="ko-KR" sz="1100" kern="0" spc="-60" dirty="0" err="1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Digitisation</a:t>
            </a:r>
            <a:r>
              <a:rPr lang="en-US" altLang="ko-KR" sz="1100" kern="0" spc="-60" dirty="0">
                <a:solidFill>
                  <a:srgbClr val="000000"/>
                </a:solidFill>
                <a:effectLst/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of Archaeological Pottery Documentation." Digital Applications in Archaeology and Cultural Heritage 38 (e00452). </a:t>
            </a:r>
          </a:p>
        </p:txBody>
      </p:sp>
    </p:spTree>
    <p:extLst>
      <p:ext uri="{BB962C8B-B14F-4D97-AF65-F5344CB8AC3E}">
        <p14:creationId xmlns:p14="http://schemas.microsoft.com/office/powerpoint/2010/main" val="2105083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3703</TotalTime>
  <Words>1020</Words>
  <Application>Microsoft Office PowerPoint</Application>
  <PresentationFormat>A4 용지(210x297mm)</PresentationFormat>
  <Paragraphs>177</Paragraphs>
  <Slides>8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6" baseType="lpstr">
      <vt:lpstr>나눔스퀘어</vt:lpstr>
      <vt:lpstr>나눔스퀘어OTF</vt:lpstr>
      <vt:lpstr>나눔스퀘어OTF Bold</vt:lpstr>
      <vt:lpstr>맑은 고딕</vt:lpstr>
      <vt:lpstr>Aptos</vt:lpstr>
      <vt:lpstr>Aptos Display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황영하</dc:creator>
  <cp:lastModifiedBy>표수현</cp:lastModifiedBy>
  <cp:revision>34</cp:revision>
  <dcterms:created xsi:type="dcterms:W3CDTF">2025-11-10T11:57:35Z</dcterms:created>
  <dcterms:modified xsi:type="dcterms:W3CDTF">2025-11-26T07:51:19Z</dcterms:modified>
</cp:coreProperties>
</file>