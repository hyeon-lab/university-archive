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2606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138" y="6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28984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86350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03116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73874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006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061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1266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7142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4406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1438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81511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F4E94E-DBF1-4B2A-9CA1-B750FDC380FE}" type="datetimeFigureOut">
              <a:rPr lang="ko-KR" altLang="en-US" smtClean="0"/>
              <a:t>2025-12-04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7DAEA5-BE2F-4504-8A99-4E9650948CB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1690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542" y="728506"/>
            <a:ext cx="12192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solidFill>
                  <a:srgbClr val="002060"/>
                </a:solidFill>
                <a:latin typeface="+mn-ea"/>
              </a:rPr>
              <a:t>K-Culture</a:t>
            </a:r>
            <a:r>
              <a:rPr lang="ko-KR" altLang="en-US" sz="3600" dirty="0">
                <a:solidFill>
                  <a:srgbClr val="002060"/>
                </a:solidFill>
                <a:latin typeface="+mn-ea"/>
              </a:rPr>
              <a:t>를 검증하는</a:t>
            </a:r>
            <a:endParaRPr lang="en-US" altLang="ko-KR" sz="3600" dirty="0">
              <a:solidFill>
                <a:srgbClr val="002060"/>
              </a:solidFill>
              <a:latin typeface="+mn-ea"/>
            </a:endParaRPr>
          </a:p>
          <a:p>
            <a:pPr algn="ctr"/>
            <a:r>
              <a:rPr lang="ko-KR" altLang="en-US" sz="3600" dirty="0">
                <a:solidFill>
                  <a:srgbClr val="002060"/>
                </a:solidFill>
                <a:latin typeface="+mn-ea"/>
              </a:rPr>
              <a:t>프레임워크 개발 </a:t>
            </a:r>
            <a:r>
              <a:rPr lang="en-US" altLang="ko-KR" sz="3600" dirty="0">
                <a:solidFill>
                  <a:srgbClr val="002060"/>
                </a:solidFill>
                <a:latin typeface="+mn-ea"/>
              </a:rPr>
              <a:t>/ </a:t>
            </a:r>
            <a:r>
              <a:rPr lang="ko-KR" altLang="en-US" sz="3600" dirty="0">
                <a:solidFill>
                  <a:srgbClr val="002060"/>
                </a:solidFill>
                <a:latin typeface="+mn-ea"/>
              </a:rPr>
              <a:t>연구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581891" y="4663440"/>
            <a:ext cx="11039302" cy="180386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5542" y="2279757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기업명 </a:t>
            </a:r>
            <a:r>
              <a:rPr lang="en-US" altLang="ko-KR" dirty="0"/>
              <a:t>:  </a:t>
            </a:r>
            <a:r>
              <a:rPr lang="ko-KR" altLang="en-US" dirty="0"/>
              <a:t>일만백만</a:t>
            </a:r>
            <a:r>
              <a:rPr lang="en-US" altLang="ko-KR" dirty="0"/>
              <a:t>                        </a:t>
            </a:r>
            <a:r>
              <a:rPr lang="ko-KR" altLang="en-US" dirty="0"/>
              <a:t>멘토 </a:t>
            </a:r>
            <a:r>
              <a:rPr lang="en-US" altLang="ko-KR" dirty="0"/>
              <a:t>:  </a:t>
            </a:r>
            <a:r>
              <a:rPr lang="ko-KR" altLang="en-US" dirty="0"/>
              <a:t>김한수</a:t>
            </a:r>
          </a:p>
        </p:txBody>
      </p:sp>
      <p:graphicFrame>
        <p:nvGraphicFramePr>
          <p:cNvPr id="18" name="표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0392966"/>
              </p:ext>
            </p:extLst>
          </p:nvPr>
        </p:nvGraphicFramePr>
        <p:xfrm>
          <a:off x="644236" y="2819570"/>
          <a:ext cx="11039305" cy="851994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207861">
                  <a:extLst>
                    <a:ext uri="{9D8B030D-6E8A-4147-A177-3AD203B41FA5}">
                      <a16:colId xmlns:a16="http://schemas.microsoft.com/office/drawing/2014/main" val="3879655121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2052876400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1287686911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3437281430"/>
                    </a:ext>
                  </a:extLst>
                </a:gridCol>
                <a:gridCol w="2207861">
                  <a:extLst>
                    <a:ext uri="{9D8B030D-6E8A-4147-A177-3AD203B41FA5}">
                      <a16:colId xmlns:a16="http://schemas.microsoft.com/office/drawing/2014/main" val="1670297334"/>
                    </a:ext>
                  </a:extLst>
                </a:gridCol>
              </a:tblGrid>
              <a:tr h="425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컴퓨터학부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컴퓨터학부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/>
                        <a:t>컴퓨터학부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/>
                        <a:t>컴퓨터학부</a:t>
                      </a:r>
                      <a:endParaRPr lang="ko-KR" alt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/>
                        <a:t>컴퓨터학부</a:t>
                      </a:r>
                      <a:endParaRPr lang="ko-KR" altLang="en-US" sz="16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9295558"/>
                  </a:ext>
                </a:extLst>
              </a:tr>
              <a:tr h="42599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강주호</a:t>
                      </a:r>
                      <a:endParaRPr lang="ko-KR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600" dirty="0" err="1"/>
                        <a:t>권용재</a:t>
                      </a:r>
                      <a:r>
                        <a:rPr lang="ko-KR" altLang="en-US" sz="1600" dirty="0"/>
                        <a:t> 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최동언</a:t>
                      </a:r>
                      <a:endParaRPr lang="ko-KR" altLang="en-US" sz="16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/>
                        <a:t>표수현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황영하</a:t>
                      </a:r>
                      <a:endParaRPr lang="ko-KR" altLang="en-US" sz="16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18858995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74968" y="4829694"/>
            <a:ext cx="106384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○ 생성형 </a:t>
            </a:r>
            <a:r>
              <a:rPr lang="en-US" altLang="ko-KR" dirty="0"/>
              <a:t>AI</a:t>
            </a:r>
            <a:r>
              <a:rPr lang="ko-KR" altLang="en-US" dirty="0"/>
              <a:t>가 다양한 콘텐츠 제작에 활용되고 있으나</a:t>
            </a:r>
            <a:r>
              <a:rPr lang="en-US" altLang="ko-KR" dirty="0"/>
              <a:t>, </a:t>
            </a:r>
            <a:r>
              <a:rPr lang="ko-KR" altLang="en-US" dirty="0"/>
              <a:t>한국 문화를 정확히 반영하지 못해 시대적 불일치</a:t>
            </a:r>
            <a:r>
              <a:rPr lang="en-US" altLang="ko-KR" dirty="0"/>
              <a:t>, </a:t>
            </a:r>
            <a:r>
              <a:rPr lang="ko-KR" altLang="en-US" dirty="0"/>
              <a:t>상징의 왜곡</a:t>
            </a:r>
            <a:r>
              <a:rPr lang="en-US" altLang="ko-KR" dirty="0"/>
              <a:t>, </a:t>
            </a:r>
            <a:r>
              <a:rPr lang="ko-KR" altLang="en-US" dirty="0"/>
              <a:t>맥락 오류 등의 문제가 발생하고 있음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○ 교육</a:t>
            </a:r>
            <a:r>
              <a:rPr lang="en-US" altLang="ko-KR" dirty="0"/>
              <a:t>, </a:t>
            </a:r>
            <a:r>
              <a:rPr lang="ko-KR" altLang="en-US" dirty="0"/>
              <a:t>관광</a:t>
            </a:r>
            <a:r>
              <a:rPr lang="en-US" altLang="ko-KR" dirty="0"/>
              <a:t>, </a:t>
            </a:r>
            <a:r>
              <a:rPr lang="ko-KR" altLang="en-US" dirty="0"/>
              <a:t>게임</a:t>
            </a:r>
            <a:r>
              <a:rPr lang="en-US" altLang="ko-KR" dirty="0"/>
              <a:t>, </a:t>
            </a:r>
            <a:r>
              <a:rPr lang="ko-KR" altLang="en-US" dirty="0"/>
              <a:t>드라마 등 실제 산업에서 한국문화의 정확한 재현은 필수적이므로</a:t>
            </a:r>
            <a:r>
              <a:rPr lang="en-US" altLang="ko-KR" dirty="0"/>
              <a:t>, </a:t>
            </a:r>
            <a:r>
              <a:rPr lang="ko-KR" altLang="en-US" dirty="0"/>
              <a:t>콘텐츠의 질을 자동 검증 </a:t>
            </a:r>
            <a:r>
              <a:rPr lang="en-US" altLang="ko-KR"/>
              <a:t>/ </a:t>
            </a:r>
            <a:r>
              <a:rPr lang="ko-KR" altLang="en-US"/>
              <a:t>평가할 </a:t>
            </a:r>
            <a:r>
              <a:rPr lang="ko-KR" altLang="en-US" dirty="0"/>
              <a:t>수 있는 도구가 요구됨</a:t>
            </a:r>
            <a:r>
              <a:rPr lang="en-US" altLang="ko-KR" dirty="0"/>
              <a:t>.</a:t>
            </a:r>
          </a:p>
        </p:txBody>
      </p:sp>
      <p:grpSp>
        <p:nvGrpSpPr>
          <p:cNvPr id="20" name="그룹 19"/>
          <p:cNvGrpSpPr/>
          <p:nvPr/>
        </p:nvGrpSpPr>
        <p:grpSpPr>
          <a:xfrm>
            <a:off x="581891" y="4073237"/>
            <a:ext cx="4463934" cy="448887"/>
            <a:chOff x="627842" y="1492250"/>
            <a:chExt cx="2664888" cy="444500"/>
          </a:xfrm>
        </p:grpSpPr>
        <p:pic>
          <p:nvPicPr>
            <p:cNvPr id="21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22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배경 및 목표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124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>
            <a:extLst>
              <a:ext uri="{FF2B5EF4-FFF2-40B4-BE49-F238E27FC236}">
                <a16:creationId xmlns:a16="http://schemas.microsoft.com/office/drawing/2014/main" id="{CB3FB580-BC11-487C-C99F-51A5CB311595}"/>
              </a:ext>
            </a:extLst>
          </p:cNvPr>
          <p:cNvGrpSpPr/>
          <p:nvPr/>
        </p:nvGrpSpPr>
        <p:grpSpPr>
          <a:xfrm>
            <a:off x="368848" y="670901"/>
            <a:ext cx="11454303" cy="5957754"/>
            <a:chOff x="1320799" y="1513721"/>
            <a:chExt cx="9523379" cy="5026477"/>
          </a:xfrm>
        </p:grpSpPr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5D9F5CDE-827B-DD10-A97D-E2A5DA2F43D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l="4577" t="10723" r="4835" b="2426"/>
            <a:stretch>
              <a:fillRect/>
            </a:stretch>
          </p:blipFill>
          <p:spPr>
            <a:xfrm>
              <a:off x="1320800" y="1513722"/>
              <a:ext cx="9523378" cy="5026476"/>
            </a:xfrm>
            <a:prstGeom prst="rect">
              <a:avLst/>
            </a:prstGeom>
          </p:spPr>
        </p:pic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1443A781-65FF-4876-AF55-2BAFB70CE789}"/>
                </a:ext>
              </a:extLst>
            </p:cNvPr>
            <p:cNvSpPr/>
            <p:nvPr/>
          </p:nvSpPr>
          <p:spPr>
            <a:xfrm>
              <a:off x="1320799" y="1513721"/>
              <a:ext cx="3664669" cy="106250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시스템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 </a:t>
              </a: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전체 구조도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(</a:t>
              </a:r>
              <a:r>
                <a:rPr lang="ko-KR" altLang="en-US" sz="2000" b="1" dirty="0" err="1">
                  <a:solidFill>
                    <a:srgbClr val="1C5E8D"/>
                  </a:solidFill>
                  <a:latin typeface="+mn-ea"/>
                </a:rPr>
                <a:t>기술스택</a:t>
              </a: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 포함</a:t>
              </a:r>
              <a:r>
                <a:rPr lang="en-US" altLang="ko-KR" sz="2000" b="1" dirty="0">
                  <a:solidFill>
                    <a:srgbClr val="1C5E8D"/>
                  </a:solidFill>
                  <a:latin typeface="+mn-ea"/>
                </a:rPr>
                <a:t>)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37797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구현 기능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E777DBF-F086-85B9-4DC1-7374B1A0FD0B}"/>
              </a:ext>
            </a:extLst>
          </p:cNvPr>
          <p:cNvSpPr txBox="1"/>
          <p:nvPr/>
        </p:nvSpPr>
        <p:spPr>
          <a:xfrm>
            <a:off x="1149048" y="3284111"/>
            <a:ext cx="4268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○ 이미지 내 객체 탐지</a:t>
            </a:r>
            <a:endParaRPr lang="en-US" altLang="ko-KR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B7DD5A1-B5E1-137A-CDB4-020E2337D680}"/>
              </a:ext>
            </a:extLst>
          </p:cNvPr>
          <p:cNvSpPr txBox="1"/>
          <p:nvPr/>
        </p:nvSpPr>
        <p:spPr>
          <a:xfrm>
            <a:off x="6774547" y="3284111"/>
            <a:ext cx="4268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○ </a:t>
            </a:r>
            <a:r>
              <a:rPr lang="en-US" altLang="ko-KR" dirty="0"/>
              <a:t>DB</a:t>
            </a:r>
            <a:r>
              <a:rPr lang="ko-KR" altLang="en-US" dirty="0"/>
              <a:t>에서 탐지된 객체 탐색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BE799F9-34A8-649F-B8A1-5AD522B4FCD5}"/>
              </a:ext>
            </a:extLst>
          </p:cNvPr>
          <p:cNvSpPr txBox="1"/>
          <p:nvPr/>
        </p:nvSpPr>
        <p:spPr>
          <a:xfrm>
            <a:off x="1149048" y="6089657"/>
            <a:ext cx="4268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○ 고증 정확성 판단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77A6E0C-3F3A-7968-8031-C2AFCA41B5C3}"/>
              </a:ext>
            </a:extLst>
          </p:cNvPr>
          <p:cNvSpPr txBox="1"/>
          <p:nvPr/>
        </p:nvSpPr>
        <p:spPr>
          <a:xfrm>
            <a:off x="6836895" y="6089657"/>
            <a:ext cx="4268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○ 분석 결과 시각화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DA7096D-4575-C602-B5B0-1B87F78A7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871" y="1415157"/>
            <a:ext cx="4408451" cy="1868954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4C297DC-65AD-039C-AAB4-0B43F20CDB1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243" t="75311" r="3784" b="2095"/>
          <a:stretch>
            <a:fillRect/>
          </a:stretch>
        </p:blipFill>
        <p:spPr>
          <a:xfrm>
            <a:off x="1910780" y="3756483"/>
            <a:ext cx="2844099" cy="126480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929E242E-0B82-FD96-6869-505F92118D9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680" t="77055" r="5096" b="2962"/>
          <a:stretch>
            <a:fillRect/>
          </a:stretch>
        </p:blipFill>
        <p:spPr>
          <a:xfrm>
            <a:off x="1908468" y="4966550"/>
            <a:ext cx="2844098" cy="112310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D85E845F-AD63-8575-46F5-2E538C89B7C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34537"/>
          <a:stretch>
            <a:fillRect/>
          </a:stretch>
        </p:blipFill>
        <p:spPr>
          <a:xfrm>
            <a:off x="7060761" y="3653443"/>
            <a:ext cx="2112234" cy="244052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77FBEA69-68C1-8842-4184-F8A5B17E01B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91" y="1226528"/>
            <a:ext cx="2849188" cy="1954543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0DA74013-D19F-73D4-70A1-CA615A8296B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42079" y="1226528"/>
            <a:ext cx="2606056" cy="195454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98DD57E7-F7F1-A1AE-F35F-BD7DDDF6CAB6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t="33911"/>
          <a:stretch>
            <a:fillRect/>
          </a:stretch>
        </p:blipFill>
        <p:spPr>
          <a:xfrm>
            <a:off x="9086803" y="3653443"/>
            <a:ext cx="2088519" cy="243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7158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그룹 4"/>
          <p:cNvGrpSpPr/>
          <p:nvPr/>
        </p:nvGrpSpPr>
        <p:grpSpPr>
          <a:xfrm>
            <a:off x="581892" y="399011"/>
            <a:ext cx="4463934" cy="448887"/>
            <a:chOff x="627842" y="1492250"/>
            <a:chExt cx="2664888" cy="444500"/>
          </a:xfrm>
        </p:grpSpPr>
        <p:pic>
          <p:nvPicPr>
            <p:cNvPr id="6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7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프로젝트 결과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pic>
        <p:nvPicPr>
          <p:cNvPr id="1026" name="Picture 2">
            <a:extLst>
              <a:ext uri="{FF2B5EF4-FFF2-40B4-BE49-F238E27FC236}">
                <a16:creationId xmlns:a16="http://schemas.microsoft.com/office/drawing/2014/main" id="{89E0F715-6CF0-F87C-B0B3-B671267D4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2374" y="1105860"/>
            <a:ext cx="2941352" cy="50575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그림 8" descr="텍스트, 인간의 얼굴, 스크린샷, 웹사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A967A6F-652D-9802-F8C8-641870A994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271" y="1105860"/>
            <a:ext cx="2880000" cy="50823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636203D-92B8-82EC-1215-D3E5C4B8CBB7}"/>
              </a:ext>
            </a:extLst>
          </p:cNvPr>
          <p:cNvSpPr txBox="1"/>
          <p:nvPr/>
        </p:nvSpPr>
        <p:spPr>
          <a:xfrm>
            <a:off x="0" y="6268884"/>
            <a:ext cx="4268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○ 고증 오류 없는 경우</a:t>
            </a:r>
            <a:endParaRPr lang="en-US" altLang="ko-KR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AFEBB22-9AE7-3F07-19AF-F3122859E01E}"/>
              </a:ext>
            </a:extLst>
          </p:cNvPr>
          <p:cNvSpPr txBox="1"/>
          <p:nvPr/>
        </p:nvSpPr>
        <p:spPr>
          <a:xfrm>
            <a:off x="3467100" y="6270908"/>
            <a:ext cx="4268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○ 고증 오류 있는 경우</a:t>
            </a:r>
            <a:endParaRPr lang="en-US" altLang="ko-KR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D7415E3-9F85-EDFE-E164-92F7A6D19D9E}"/>
              </a:ext>
            </a:extLst>
          </p:cNvPr>
          <p:cNvSpPr txBox="1"/>
          <p:nvPr/>
        </p:nvSpPr>
        <p:spPr>
          <a:xfrm>
            <a:off x="7091363" y="6252221"/>
            <a:ext cx="42684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dirty="0"/>
              <a:t>○ 객체 탐지 못한 경우</a:t>
            </a:r>
            <a:endParaRPr lang="en-US" altLang="ko-KR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3F7A4DB8-5645-599A-644D-6ADD3B2BBC0F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694202" y="1105860"/>
            <a:ext cx="2880000" cy="50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3277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/>
          <p:cNvSpPr/>
          <p:nvPr/>
        </p:nvSpPr>
        <p:spPr>
          <a:xfrm>
            <a:off x="581891" y="4605251"/>
            <a:ext cx="11039302" cy="1803861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774968" y="4771505"/>
            <a:ext cx="1063840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○ 한국문화 데이터셋 구축에 기여해 향후의 한국문화 연구에 도움을 줌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○ 여러 한국문화 콘텐츠의 품질 향상으로 인한 한국문화 확산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○ 생성형 </a:t>
            </a:r>
            <a:r>
              <a:rPr lang="en-US" altLang="ko-KR" dirty="0"/>
              <a:t>AI</a:t>
            </a:r>
            <a:r>
              <a:rPr lang="ko-KR" altLang="en-US" dirty="0"/>
              <a:t>의 학습 데이터 셋 검증으로 인한 결과물 발전 가능</a:t>
            </a:r>
            <a:endParaRPr lang="en-US" altLang="ko-KR" dirty="0"/>
          </a:p>
          <a:p>
            <a:endParaRPr lang="ko-KR" altLang="en-US" dirty="0"/>
          </a:p>
        </p:txBody>
      </p:sp>
      <p:grpSp>
        <p:nvGrpSpPr>
          <p:cNvPr id="20" name="그룹 19"/>
          <p:cNvGrpSpPr/>
          <p:nvPr/>
        </p:nvGrpSpPr>
        <p:grpSpPr>
          <a:xfrm>
            <a:off x="581891" y="4015048"/>
            <a:ext cx="4463934" cy="448887"/>
            <a:chOff x="627842" y="1492250"/>
            <a:chExt cx="2664888" cy="444500"/>
          </a:xfrm>
        </p:grpSpPr>
        <p:pic>
          <p:nvPicPr>
            <p:cNvPr id="21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22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i="0" u="none" strike="noStrike" dirty="0">
                  <a:solidFill>
                    <a:srgbClr val="1C5E8D"/>
                  </a:solidFill>
                  <a:latin typeface="+mn-ea"/>
                </a:rPr>
                <a:t>기대 효과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sp>
        <p:nvSpPr>
          <p:cNvPr id="10" name="직사각형 9"/>
          <p:cNvSpPr/>
          <p:nvPr/>
        </p:nvSpPr>
        <p:spPr>
          <a:xfrm>
            <a:off x="581891" y="1026664"/>
            <a:ext cx="11039302" cy="253118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2" name="그룹 11"/>
          <p:cNvGrpSpPr/>
          <p:nvPr/>
        </p:nvGrpSpPr>
        <p:grpSpPr>
          <a:xfrm>
            <a:off x="581891" y="436460"/>
            <a:ext cx="4463934" cy="448887"/>
            <a:chOff x="627842" y="1492250"/>
            <a:chExt cx="2664888" cy="444500"/>
          </a:xfrm>
        </p:grpSpPr>
        <p:pic>
          <p:nvPicPr>
            <p:cNvPr id="13" name="Picture 1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5400000">
              <a:off x="465036" y="1655056"/>
              <a:ext cx="400050" cy="74438"/>
            </a:xfrm>
            <a:prstGeom prst="rect">
              <a:avLst/>
            </a:prstGeom>
          </p:spPr>
        </p:pic>
        <p:sp>
          <p:nvSpPr>
            <p:cNvPr id="14" name="TextBox 18"/>
            <p:cNvSpPr txBox="1"/>
            <p:nvPr/>
          </p:nvSpPr>
          <p:spPr>
            <a:xfrm>
              <a:off x="786643" y="1525720"/>
              <a:ext cx="2506087" cy="41103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lvl="0" algn="l">
                <a:lnSpc>
                  <a:spcPct val="124499"/>
                </a:lnSpc>
              </a:pPr>
              <a:r>
                <a:rPr lang="ko-KR" altLang="en-US" sz="2000" b="1" dirty="0">
                  <a:solidFill>
                    <a:srgbClr val="1C5E8D"/>
                  </a:solidFill>
                  <a:latin typeface="+mn-ea"/>
                </a:rPr>
                <a:t>실적 산출</a:t>
              </a:r>
              <a:endParaRPr lang="ko-KR" sz="2000" b="1" i="0" u="none" strike="noStrike" dirty="0">
                <a:solidFill>
                  <a:srgbClr val="1C5E8D"/>
                </a:solidFill>
                <a:latin typeface="+mn-ea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D8087378-3EC3-93FA-66D2-79AF2A5012B6}"/>
              </a:ext>
            </a:extLst>
          </p:cNvPr>
          <p:cNvSpPr txBox="1"/>
          <p:nvPr/>
        </p:nvSpPr>
        <p:spPr>
          <a:xfrm>
            <a:off x="774967" y="1171859"/>
            <a:ext cx="10638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○ </a:t>
            </a:r>
            <a:r>
              <a:rPr lang="en-US" altLang="ko-KR" dirty="0"/>
              <a:t>2025</a:t>
            </a:r>
            <a:r>
              <a:rPr lang="ko-KR" altLang="en-US" dirty="0"/>
              <a:t>년 한국정보기술학회 추계종합학술대회 및 대학생논문경진대회 대학생</a:t>
            </a:r>
            <a:r>
              <a:rPr lang="en-US" altLang="ko-KR" dirty="0"/>
              <a:t>/</a:t>
            </a:r>
            <a:r>
              <a:rPr lang="ko-KR" altLang="en-US" dirty="0"/>
              <a:t>포스터부문 발표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315C14C-0494-0EC0-7860-9446FDD352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3285"/>
          <a:stretch>
            <a:fillRect/>
          </a:stretch>
        </p:blipFill>
        <p:spPr>
          <a:xfrm>
            <a:off x="1502884" y="1666435"/>
            <a:ext cx="9197316" cy="1838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331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172</Words>
  <Application>Microsoft Office PowerPoint</Application>
  <PresentationFormat>와이드스크린</PresentationFormat>
  <Paragraphs>35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소프트웨어교육원</dc:creator>
  <cp:lastModifiedBy>동언 최</cp:lastModifiedBy>
  <cp:revision>21</cp:revision>
  <dcterms:created xsi:type="dcterms:W3CDTF">2025-05-26T08:38:07Z</dcterms:created>
  <dcterms:modified xsi:type="dcterms:W3CDTF">2025-12-04T06:09:08Z</dcterms:modified>
</cp:coreProperties>
</file>