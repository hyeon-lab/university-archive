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ABC"/>
    <a:srgbClr val="E1E600"/>
    <a:srgbClr val="CED30F"/>
    <a:srgbClr val="E8ED11"/>
    <a:srgbClr val="F5F791"/>
    <a:srgbClr val="CCC838"/>
    <a:srgbClr val="E0DE86"/>
    <a:srgbClr val="525252"/>
    <a:srgbClr val="F2F2D0"/>
    <a:srgbClr val="8343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시작일</c:v>
                </c:pt>
              </c:strCache>
            </c:strRef>
          </c:tx>
          <c:spPr>
            <a:noFill/>
            <a:ln>
              <a:solidFill>
                <a:schemeClr val="bg1"/>
              </a:solidFill>
            </a:ln>
            <a:effectLst/>
          </c:spPr>
          <c:invertIfNegative val="0"/>
          <c:dLbls>
            <c:numFmt formatCode="m&quot;/&quot;d;@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>
                    <a:solidFill>
                      <a:schemeClr val="tx1"/>
                    </a:solidFill>
                    <a:latin typeface="나눔스퀘어OTF" panose="020B0600000101010101" pitchFamily="34" charset="-127"/>
                    <a:ea typeface="나눔스퀘어OTF" panose="020B0600000101010101" pitchFamily="34" charset="-127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Sheet1!$A$2:$A$14</c:f>
              <c:strCache>
                <c:ptCount val="13"/>
                <c:pt idx="0">
                  <c:v>특허 출원 추진 검토 (전원)</c:v>
                </c:pt>
                <c:pt idx="1">
                  <c:v>종프 최종 발표 (권용재)</c:v>
                </c:pt>
                <c:pt idx="2">
                  <c:v>논문 발표 (황영하)</c:v>
                </c:pt>
                <c:pt idx="3">
                  <c:v>통합 테스트 및 결과 평가 (전원)</c:v>
                </c:pt>
                <c:pt idx="4">
                  <c:v>플랫폼 프론트엔드 (강주호, 표수현)</c:v>
                </c:pt>
                <c:pt idx="5">
                  <c:v>플랫폼 백엔드 (강주호, 표수현)</c:v>
                </c:pt>
                <c:pt idx="6">
                  <c:v>논문 작성 (황영하)</c:v>
                </c:pt>
                <c:pt idx="7">
                  <c:v>점수화 지표 설계 및 개발 (권용재, 최동언)</c:v>
                </c:pt>
                <c:pt idx="8">
                  <c:v>고증 검증 모듈 개발 (권용재, 최동언)</c:v>
                </c:pt>
                <c:pt idx="9">
                  <c:v>CLIP 기반 객체인식 모듈 학습 (권용재, 최동언)</c:v>
                </c:pt>
                <c:pt idx="10">
                  <c:v>한국문화 데이터베이스 구축 (전원)</c:v>
                </c:pt>
                <c:pt idx="11">
                  <c:v>데이터 수집/라벨링 (전원)</c:v>
                </c:pt>
                <c:pt idx="12">
                  <c:v>프로젝트 계획 및 환경설정 (전원)</c:v>
                </c:pt>
              </c:strCache>
            </c:strRef>
          </c:cat>
          <c:val>
            <c:numRef>
              <c:f>Sheet1!$B$2:$B$14</c:f>
              <c:numCache>
                <c:formatCode>m/d/yyyy</c:formatCode>
                <c:ptCount val="13"/>
                <c:pt idx="0">
                  <c:v>45985</c:v>
                </c:pt>
                <c:pt idx="1">
                  <c:v>45982</c:v>
                </c:pt>
                <c:pt idx="2">
                  <c:v>45972</c:v>
                </c:pt>
                <c:pt idx="3">
                  <c:v>45971</c:v>
                </c:pt>
                <c:pt idx="4">
                  <c:v>45962</c:v>
                </c:pt>
                <c:pt idx="5">
                  <c:v>45961</c:v>
                </c:pt>
                <c:pt idx="6">
                  <c:v>45957</c:v>
                </c:pt>
                <c:pt idx="7">
                  <c:v>45936</c:v>
                </c:pt>
                <c:pt idx="8">
                  <c:v>45936</c:v>
                </c:pt>
                <c:pt idx="9">
                  <c:v>45936</c:v>
                </c:pt>
                <c:pt idx="10">
                  <c:v>45913</c:v>
                </c:pt>
                <c:pt idx="11">
                  <c:v>45910</c:v>
                </c:pt>
                <c:pt idx="12">
                  <c:v>45905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33-4F88-A119-9442B52064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소요일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Sheet1!$A$2:$A$14</c:f>
              <c:strCache>
                <c:ptCount val="13"/>
                <c:pt idx="0">
                  <c:v>특허 출원 추진 검토 (전원)</c:v>
                </c:pt>
                <c:pt idx="1">
                  <c:v>종프 최종 발표 (권용재)</c:v>
                </c:pt>
                <c:pt idx="2">
                  <c:v>논문 발표 (황영하)</c:v>
                </c:pt>
                <c:pt idx="3">
                  <c:v>통합 테스트 및 결과 평가 (전원)</c:v>
                </c:pt>
                <c:pt idx="4">
                  <c:v>플랫폼 프론트엔드 (강주호, 표수현)</c:v>
                </c:pt>
                <c:pt idx="5">
                  <c:v>플랫폼 백엔드 (강주호, 표수현)</c:v>
                </c:pt>
                <c:pt idx="6">
                  <c:v>논문 작성 (황영하)</c:v>
                </c:pt>
                <c:pt idx="7">
                  <c:v>점수화 지표 설계 및 개발 (권용재, 최동언)</c:v>
                </c:pt>
                <c:pt idx="8">
                  <c:v>고증 검증 모듈 개발 (권용재, 최동언)</c:v>
                </c:pt>
                <c:pt idx="9">
                  <c:v>CLIP 기반 객체인식 모듈 학습 (권용재, 최동언)</c:v>
                </c:pt>
                <c:pt idx="10">
                  <c:v>한국문화 데이터베이스 구축 (전원)</c:v>
                </c:pt>
                <c:pt idx="11">
                  <c:v>데이터 수집/라벨링 (전원)</c:v>
                </c:pt>
                <c:pt idx="12">
                  <c:v>프로젝트 계획 및 환경설정 (전원)</c:v>
                </c:pt>
              </c:strCache>
            </c:strRef>
          </c:cat>
          <c:val>
            <c:numRef>
              <c:f>Sheet1!$C$2:$C$14</c:f>
              <c:numCache>
                <c:formatCode>0_);[Red]\(0\)</c:formatCode>
                <c:ptCount val="13"/>
                <c:pt idx="0">
                  <c:v>4</c:v>
                </c:pt>
                <c:pt idx="1">
                  <c:v>2</c:v>
                </c:pt>
                <c:pt idx="2">
                  <c:v>4</c:v>
                </c:pt>
                <c:pt idx="3">
                  <c:v>4</c:v>
                </c:pt>
                <c:pt idx="4">
                  <c:v>4</c:v>
                </c:pt>
                <c:pt idx="5">
                  <c:v>15</c:v>
                </c:pt>
                <c:pt idx="6">
                  <c:v>29</c:v>
                </c:pt>
                <c:pt idx="7">
                  <c:v>35</c:v>
                </c:pt>
                <c:pt idx="8">
                  <c:v>35</c:v>
                </c:pt>
                <c:pt idx="9">
                  <c:v>35</c:v>
                </c:pt>
                <c:pt idx="10">
                  <c:v>26</c:v>
                </c:pt>
                <c:pt idx="11">
                  <c:v>29</c:v>
                </c:pt>
                <c:pt idx="12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E33-4F88-A119-9442B52064F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2047716687"/>
        <c:axId val="2047722927"/>
      </c:barChart>
      <c:catAx>
        <c:axId val="204771668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defRPr>
            </a:pPr>
            <a:endParaRPr lang="ko-KR"/>
          </a:p>
        </c:txPr>
        <c:crossAx val="2047722927"/>
        <c:crosses val="autoZero"/>
        <c:auto val="1"/>
        <c:lblAlgn val="ctr"/>
        <c:lblOffset val="100"/>
        <c:noMultiLvlLbl val="0"/>
      </c:catAx>
      <c:valAx>
        <c:axId val="2047722927"/>
        <c:scaling>
          <c:orientation val="minMax"/>
          <c:min val="4590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m&quot;/&quot;d;@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defRPr>
            </a:pPr>
            <a:endParaRPr lang="ko-KR"/>
          </a:p>
        </c:txPr>
        <c:crossAx val="204771668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1"/>
      </a:solidFill>
    </a:ln>
    <a:effectLst/>
  </c:spPr>
  <c:txPr>
    <a:bodyPr/>
    <a:lstStyle/>
    <a:p>
      <a:pPr>
        <a:defRPr>
          <a:solidFill>
            <a:schemeClr val="tx1"/>
          </a:solidFill>
          <a:latin typeface="나눔스퀘어OTF" panose="020B0600000101010101" pitchFamily="34" charset="-127"/>
          <a:ea typeface="나눔스퀘어OTF" panose="020B0600000101010101" pitchFamily="34" charset="-127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4E6D7-512F-99D7-38AE-6DA67C9D91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16A3648-6E29-E892-E370-A7AAA4B3F0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A1E9C-9495-E65F-B159-5B07C3CF4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7ED439-A8CA-4090-2FD0-547E916CC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B7F07A-2CA7-70D7-D02B-29243EC3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282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3E9017-7163-E9F8-DC42-517C8E1232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04653-D9F6-CC62-079E-8F8D3FE2EA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FE0C55-0A69-5356-1EDF-A5C0E1BE3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9B7E17-C326-86F2-A1FC-6C7DCF52F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E80CA7-01DC-4E88-8468-318BF49EE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252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7C9701-8B62-5C4D-B90F-A67602173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C45D81-5004-A00B-470C-BDB81FE416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2CBB195-1437-E51B-17E1-1D646082A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FAEBB3-B85E-EE0E-B789-D5826E56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C7139F7-6614-99FE-E41B-FDB349B6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35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C60585-195F-68B6-C703-70AE5D89E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33D5D2-4463-2B4E-9D47-511C8E91C1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7DA1170-BD51-2780-EF8B-70FA14821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C9682C-DC66-6FD8-3821-E8A305848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3B1B36-2AD0-238B-E91A-85389514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F7B3EE-C6CB-4BEE-37E6-1FB6433CB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428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05923A-6A91-063B-BEE1-8DAF603D1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9EB20C4-0585-3EA7-24DF-1489BBB07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7532310-BF13-FB9D-0D01-7AB7B1B3C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68F6F9-F268-1912-D92F-277E477F81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418D414-DA1F-7FA1-C7A2-96FCA09313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5B64EB0-769F-D23C-B4C6-04AA0796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DA81956-F48A-93ED-D415-B93382AE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319A287-117A-F5AA-8869-389F3C7D4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3655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19043E-C157-9F99-9070-D850BDC5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7B05D2-48CA-B9D0-BF11-921A98D8B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9242A30-23E3-BBF9-DC21-4E36A1770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8FBA9E8-109A-9B39-CC52-33C044F98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8577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F03B263-9E17-B9ED-BB90-8CFF010C2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8EF8B0B-615C-8413-0167-BC5FCE9D3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5D782D-199E-3FD2-EB4A-6C6D7C6F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4242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F5891-8F7F-FC9C-913F-A5747FC34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2D5A2-A19A-3462-3149-0DA52D739A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3E601D-414F-2C40-E756-52F9877600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106F4BB-1F25-174E-56D3-5DCB09DC2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574613-B725-6D98-5C5F-CAA88B481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FDD2325-7F10-7B48-76E8-3057A4F4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85255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5DBB5F-06CB-5293-9FE4-DBBAB54DC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F374329-23F4-A134-B1E4-752E57AC40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DBB5C0-6D82-96A8-1C9E-BD5A9C170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4E8CEFE-3D71-512E-6565-DCBC4CCF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C09F57F-F547-BEF4-459B-50C057181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F128951-42E7-CAA8-AD7D-7A4A9F298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4247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7F4D8E-7695-7A73-A469-8CA0CCAC26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7CC452B-3580-86BA-DE13-6D3FB6F3DC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F066E0-8668-8CC5-A26A-56375F1D8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C88A59-F294-4A53-AF53-C29FF00CE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E0000C-0093-D537-7B96-C9ED81CAC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4216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37BABD-B44A-BC31-21A9-B2BE0AB0E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03C420-D3F9-3FE0-0E6C-25CDCF27E9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231ECF-F476-7F0E-F046-AEF799D45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350686-3CB2-8414-52DC-FE868528C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B8E84-2923-C8EF-21A3-407A39DE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70207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32921D2-D295-2B84-76E8-70BD0348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178C4E-B6D5-12C0-84F6-475D4418E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D2B74-DE3E-F4F9-A41E-5BCC1FB7F11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8CECDB-1163-4689-8796-ABB661A26FC8}" type="datetimeFigureOut">
              <a:rPr lang="ko-KR" altLang="en-US" smtClean="0"/>
              <a:t>2025-09-30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50C896-FDBC-8B62-53FB-FB0A71966A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18E630-D597-D82D-669B-A2B515622A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96918-2878-4AE9-BE03-7E93680B155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53868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30D497-2B25-C699-C11A-55D74DEB744A}"/>
              </a:ext>
            </a:extLst>
          </p:cNvPr>
          <p:cNvSpPr txBox="1"/>
          <p:nvPr/>
        </p:nvSpPr>
        <p:spPr>
          <a:xfrm>
            <a:off x="3017495" y="334360"/>
            <a:ext cx="61570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K-Culture</a:t>
            </a:r>
            <a:r>
              <a:rPr lang="ko-KR" altLang="en-US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를 고증하는 프레임워크 개발 </a:t>
            </a:r>
            <a:r>
              <a:rPr lang="en-US" altLang="ko-KR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/ </a:t>
            </a:r>
            <a:r>
              <a:rPr lang="ko-KR" altLang="en-US" sz="2000" dirty="0">
                <a:latin typeface="나눔스퀘어OTF Bold" panose="020B0600000101010101" pitchFamily="34" charset="-127"/>
                <a:ea typeface="나눔스퀘어OTF Bold" panose="020B0600000101010101" pitchFamily="34" charset="-127"/>
              </a:rPr>
              <a:t>연구 추진 일정</a:t>
            </a:r>
          </a:p>
        </p:txBody>
      </p:sp>
      <p:graphicFrame>
        <p:nvGraphicFramePr>
          <p:cNvPr id="25" name="차트 24">
            <a:extLst>
              <a:ext uri="{FF2B5EF4-FFF2-40B4-BE49-F238E27FC236}">
                <a16:creationId xmlns:a16="http://schemas.microsoft.com/office/drawing/2014/main" id="{02964E00-D90B-6FAB-D10E-3540E82C508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5842834"/>
              </p:ext>
            </p:extLst>
          </p:nvPr>
        </p:nvGraphicFramePr>
        <p:xfrm>
          <a:off x="282428" y="835139"/>
          <a:ext cx="11627141" cy="57891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973155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나눔스퀘어OTF Bold</vt:lpstr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표수현</dc:creator>
  <cp:lastModifiedBy>표수현</cp:lastModifiedBy>
  <cp:revision>6</cp:revision>
  <dcterms:created xsi:type="dcterms:W3CDTF">2025-09-29T23:56:26Z</dcterms:created>
  <dcterms:modified xsi:type="dcterms:W3CDTF">2025-09-30T10:48:51Z</dcterms:modified>
</cp:coreProperties>
</file>