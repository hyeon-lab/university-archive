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BC"/>
    <a:srgbClr val="E1E600"/>
    <a:srgbClr val="CED30F"/>
    <a:srgbClr val="E8ED11"/>
    <a:srgbClr val="F5F791"/>
    <a:srgbClr val="CCC838"/>
    <a:srgbClr val="E0DE86"/>
    <a:srgbClr val="525252"/>
    <a:srgbClr val="F2F2D0"/>
    <a:srgbClr val="834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4E6D7-512F-99D7-38AE-6DA67C9D9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6A3648-6E29-E892-E370-A7AAA4B3F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A1E9C-9495-E65F-B159-5B07C3CF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ED439-A8CA-4090-2FD0-547E916C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7F07A-2CA7-70D7-D02B-29243EC3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8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E9017-7163-E9F8-DC42-517C8E12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04653-D9F6-CC62-079E-8F8D3FE2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E0C55-0A69-5356-1EDF-A5C0E1BE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B7E17-C326-86F2-A1FC-6C7DCF52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80CA7-01DC-4E88-8468-318BF49E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C9701-8B62-5C4D-B90F-A6760217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C45D81-5004-A00B-470C-BDB81FE4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BB195-1437-E51B-17E1-1D646082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AEBB3-B85E-EE0E-B789-D5826E56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139F7-6614-99FE-E41B-FDB349B6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35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60585-195F-68B6-C703-70AE5D89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3D5D2-4463-2B4E-9D47-511C8E91C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A1170-BD51-2780-EF8B-70FA14821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C9682C-DC66-6FD8-3821-E8A30584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3B1B36-2AD0-238B-E91A-85389514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F7B3EE-C6CB-4BEE-37E6-1FB6433C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42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5923A-6A91-063B-BEE1-8DAF603D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B20C4-0585-3EA7-24DF-1489BBB07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532310-BF13-FB9D-0D01-7AB7B1B3C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68F6F9-F268-1912-D92F-277E477F8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18D414-DA1F-7FA1-C7A2-96FCA0931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B64EB0-769F-D23C-B4C6-04AA0796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A81956-F48A-93ED-D415-B93382AE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19A287-117A-F5AA-8869-389F3C7D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36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9043E-C157-9F99-9070-D850BDC5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7B05D2-48CA-B9D0-BF11-921A98D8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242A30-23E3-BBF9-DC21-4E36A177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BA9E8-109A-9B39-CC52-33C044F9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57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03B263-9E17-B9ED-BB90-8CFF010C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EF8B0B-615C-8413-0167-BC5FCE9D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5D782D-199E-3FD2-EB4A-6C6D7C6F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24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F5891-8F7F-FC9C-913F-A5747FC3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2D5A2-A19A-3462-3149-0DA52D73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E601D-414F-2C40-E756-52F987760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06F4BB-1F25-174E-56D3-5DCB09DC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74613-B725-6D98-5C5F-CAA88B48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D2325-7F10-7B48-76E8-3057A4F4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52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BB5F-06CB-5293-9FE4-DBBAB54D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374329-23F4-A134-B1E4-752E57AC4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DBB5C0-6D82-96A8-1C9E-BD5A9C170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E8CEFE-3D71-512E-6565-DCBC4CCF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09F57F-F547-BEF4-459B-50C05718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128951-42E7-CAA8-AD7D-7A4A9F29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24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F4D8E-7695-7A73-A469-8CA0CCAC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CC452B-3580-86BA-DE13-6D3FB6F3D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F066E0-8668-8CC5-A26A-56375F1D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88A59-F294-4A53-AF53-C29FF00C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0000C-0093-D537-7B96-C9ED81CA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37BABD-B44A-BC31-21A9-B2BE0AB0E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03C420-D3F9-3FE0-0E6C-25CDCF27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231ECF-F476-7F0E-F046-AEF799D4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350686-3CB2-8414-52DC-FE868528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B8E84-2923-C8EF-21A3-407A39DE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2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2921D2-D295-2B84-76E8-70BD0348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178C4E-B6D5-12C0-84F6-475D4418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2B74-DE3E-F4F9-A41E-5BCC1FB7F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0C896-FDBC-8B62-53FB-FB0A71966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8E630-D597-D82D-669B-A2B515622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38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0D497-2B25-C699-C11A-55D74DEB744A}"/>
              </a:ext>
            </a:extLst>
          </p:cNvPr>
          <p:cNvSpPr txBox="1"/>
          <p:nvPr/>
        </p:nvSpPr>
        <p:spPr>
          <a:xfrm>
            <a:off x="3574220" y="619585"/>
            <a:ext cx="5043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K-Culture</a:t>
            </a:r>
            <a:r>
              <a:rPr lang="ko-KR" altLang="en-US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를 검증하는 프레임워크 개발 </a:t>
            </a:r>
            <a:r>
              <a:rPr lang="en-US" altLang="ko-KR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/ </a:t>
            </a:r>
            <a:r>
              <a:rPr lang="ko-KR" altLang="en-US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연구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EB8E7A9-03B3-E602-01A1-4A8C99D82B8B}"/>
              </a:ext>
            </a:extLst>
          </p:cNvPr>
          <p:cNvGrpSpPr/>
          <p:nvPr/>
        </p:nvGrpSpPr>
        <p:grpSpPr>
          <a:xfrm>
            <a:off x="562076" y="3417646"/>
            <a:ext cx="11115040" cy="2529840"/>
            <a:chOff x="538480" y="2255520"/>
            <a:chExt cx="11115040" cy="2529840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062E593-0132-6955-3E6D-A0C7086D2654}"/>
                </a:ext>
              </a:extLst>
            </p:cNvPr>
            <p:cNvSpPr/>
            <p:nvPr/>
          </p:nvSpPr>
          <p:spPr>
            <a:xfrm>
              <a:off x="538480" y="2255520"/>
              <a:ext cx="11115040" cy="25298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EA1FA0-48D2-6312-AF03-CE5B75F77522}"/>
                </a:ext>
              </a:extLst>
            </p:cNvPr>
            <p:cNvSpPr txBox="1"/>
            <p:nvPr/>
          </p:nvSpPr>
          <p:spPr>
            <a:xfrm>
              <a:off x="4886213" y="2586446"/>
              <a:ext cx="2190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핵심 서비스 프로세스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6DDCB34-31F8-9B60-02D0-51606E6AE7CF}"/>
                </a:ext>
              </a:extLst>
            </p:cNvPr>
            <p:cNvSpPr/>
            <p:nvPr/>
          </p:nvSpPr>
          <p:spPr>
            <a:xfrm>
              <a:off x="776740" y="3156131"/>
              <a:ext cx="1582056" cy="109074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입력</a:t>
              </a:r>
              <a:endParaRPr lang="en-US" altLang="ko-KR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역사적 배경이 존재하는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image / video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06B3780-24F6-4A4C-A36F-1A6A52190B4A}"/>
                </a:ext>
              </a:extLst>
            </p:cNvPr>
            <p:cNvSpPr/>
            <p:nvPr/>
          </p:nvSpPr>
          <p:spPr>
            <a:xfrm>
              <a:off x="2876572" y="3156131"/>
              <a:ext cx="1582056" cy="109074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객체 인식 모듈</a:t>
              </a:r>
              <a:endPara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  <a:p>
              <a:pPr algn="ctr"/>
              <a:r>
                <a:rPr lang="ko-KR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입력된 이미지</a:t>
              </a:r>
              <a:r>
                <a:rPr lang="en-US" altLang="ko-KR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영상에서 객체 추출</a:t>
              </a:r>
              <a:endPara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3825124-7422-3559-EA6F-1BA6854CBC78}"/>
                </a:ext>
              </a:extLst>
            </p:cNvPr>
            <p:cNvSpPr/>
            <p:nvPr/>
          </p:nvSpPr>
          <p:spPr>
            <a:xfrm>
              <a:off x="4976404" y="3156131"/>
              <a:ext cx="2099832" cy="109074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한국문화 데이터베이스</a:t>
              </a:r>
              <a:endPara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  <a:p>
              <a:pPr algn="ctr"/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인식된 객체 세부 정보를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DB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와 매핑</a:t>
              </a:r>
              <a:endPara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5F89C2E-9201-7463-762C-49CEE42D9B36}"/>
                </a:ext>
              </a:extLst>
            </p:cNvPr>
            <p:cNvSpPr/>
            <p:nvPr/>
          </p:nvSpPr>
          <p:spPr>
            <a:xfrm>
              <a:off x="7594012" y="3156130"/>
              <a:ext cx="1582056" cy="109074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dirty="0">
                  <a:solidFill>
                    <a:schemeClr val="bg2">
                      <a:lumMod val="5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고증 검증 모듈</a:t>
              </a:r>
              <a:endParaRPr lang="en-US" altLang="ko-KR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  <a:p>
              <a:pPr algn="ctr"/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인식된 정보로 검증 수행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&amp;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점수 산출</a:t>
              </a:r>
              <a:endPara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E976E1C-18C7-4F3C-CC21-59A272DB73DC}"/>
                </a:ext>
              </a:extLst>
            </p:cNvPr>
            <p:cNvSpPr/>
            <p:nvPr/>
          </p:nvSpPr>
          <p:spPr>
            <a:xfrm>
              <a:off x="9693844" y="3156131"/>
              <a:ext cx="1582056" cy="1090749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출력</a:t>
              </a:r>
              <a:endParaRPr lang="en-US" altLang="ko-K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  <a:p>
              <a:pPr algn="ctr"/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나눔스퀘어OTF" panose="020B0600000101010101" pitchFamily="34" charset="-127"/>
                  <a:ea typeface="나눔스퀘어OTF" panose="020B0600000101010101" pitchFamily="34" charset="-127"/>
                  <a:cs typeface="+mn-cs"/>
                </a:rPr>
                <a:t>일관성 점수 산출 및 </a:t>
              </a:r>
              <a:r>
                <a:rPr lang="ko-KR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피드백 제공</a:t>
              </a:r>
              <a:endParaRPr lang="ko-KR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3233C043-88E4-58D5-0226-2B4A3744411D}"/>
                </a:ext>
              </a:extLst>
            </p:cNvPr>
            <p:cNvSpPr/>
            <p:nvPr/>
          </p:nvSpPr>
          <p:spPr>
            <a:xfrm>
              <a:off x="2432046" y="3523704"/>
              <a:ext cx="425044" cy="372656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1C26D09B-9A51-EC9E-8B93-7069D12C8CD4}"/>
                </a:ext>
              </a:extLst>
            </p:cNvPr>
            <p:cNvSpPr/>
            <p:nvPr/>
          </p:nvSpPr>
          <p:spPr>
            <a:xfrm>
              <a:off x="4525314" y="3538553"/>
              <a:ext cx="425044" cy="372656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92A5C568-AEDF-2386-DBDB-5C2FA60EBF50}"/>
                </a:ext>
              </a:extLst>
            </p:cNvPr>
            <p:cNvSpPr/>
            <p:nvPr/>
          </p:nvSpPr>
          <p:spPr>
            <a:xfrm>
              <a:off x="7146204" y="3523704"/>
              <a:ext cx="425044" cy="372656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B5644972-2D9D-B857-2B91-B2305D972408}"/>
                </a:ext>
              </a:extLst>
            </p:cNvPr>
            <p:cNvSpPr/>
            <p:nvPr/>
          </p:nvSpPr>
          <p:spPr>
            <a:xfrm>
              <a:off x="9239472" y="3538553"/>
              <a:ext cx="425044" cy="372656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D1CFF07-3FC5-35F8-927E-E6D6BBEA7ACB}"/>
              </a:ext>
            </a:extLst>
          </p:cNvPr>
          <p:cNvSpPr/>
          <p:nvPr/>
        </p:nvSpPr>
        <p:spPr>
          <a:xfrm>
            <a:off x="1148778" y="1312563"/>
            <a:ext cx="1921916" cy="15618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US" altLang="ko-KR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단계 </a:t>
            </a:r>
            <a:r>
              <a:rPr lang="en-US" altLang="ko-KR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: </a:t>
            </a:r>
            <a:r>
              <a:rPr lang="ko-KR" altLang="en-US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데이터 수집</a:t>
            </a:r>
            <a:endParaRPr lang="en-US" altLang="ko-KR" sz="1400" dirty="0">
              <a:solidFill>
                <a:schemeClr val="tx2">
                  <a:lumMod val="50000"/>
                  <a:lumOff val="5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한국문화 데이터 수집</a:t>
            </a:r>
            <a:endParaRPr lang="en-US" altLang="ko-KR" sz="1300" dirty="0">
              <a:solidFill>
                <a:schemeClr val="tx1">
                  <a:lumMod val="65000"/>
                  <a:lumOff val="35000"/>
                </a:schemeClr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데이터 수집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데이터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라벨링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데이터 베이스 구축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72EC1A2-CDE1-B9A7-2BEC-61AFCFAF2182}"/>
              </a:ext>
            </a:extLst>
          </p:cNvPr>
          <p:cNvSpPr/>
          <p:nvPr/>
        </p:nvSpPr>
        <p:spPr>
          <a:xfrm>
            <a:off x="3638956" y="1310884"/>
            <a:ext cx="2201432" cy="15618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US" altLang="ko-K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2</a:t>
            </a:r>
            <a:r>
              <a:rPr lang="ko-KR" alt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단계 </a:t>
            </a:r>
            <a:r>
              <a:rPr lang="en-US" altLang="ko-K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: AI </a:t>
            </a:r>
            <a:r>
              <a:rPr lang="ko-KR" alt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모델 개발</a:t>
            </a:r>
          </a:p>
          <a:p>
            <a:pPr algn="ctr">
              <a:lnSpc>
                <a:spcPct val="150000"/>
              </a:lnSpc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객체 인식 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검증 모델 개발</a:t>
            </a:r>
            <a:endParaRPr lang="en-US" altLang="ko-KR" sz="1300" dirty="0">
              <a:solidFill>
                <a:prstClr val="black">
                  <a:lumMod val="65000"/>
                  <a:lumOff val="35000"/>
                </a:prstClr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CLIP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기반 객체 인식 모듈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고증 검증 모듈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점수화 지표 개발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algn="ctr"/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204EDC0-6C51-C0CA-0C0F-EF87D385674B}"/>
              </a:ext>
            </a:extLst>
          </p:cNvPr>
          <p:cNvSpPr/>
          <p:nvPr/>
        </p:nvSpPr>
        <p:spPr>
          <a:xfrm>
            <a:off x="6358164" y="1310884"/>
            <a:ext cx="2099832" cy="15618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3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단계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: 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플랫폼 개발</a:t>
            </a:r>
            <a:endParaRPr lang="en-US" altLang="ko-KR" sz="1400" dirty="0">
              <a:solidFill>
                <a:schemeClr val="accent5">
                  <a:lumMod val="60000"/>
                  <a:lumOff val="4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>
              <a:lnSpc>
                <a:spcPct val="150000"/>
              </a:lnSpc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웹 서비스 개발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이미지 업로드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UI</a:t>
            </a: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실시간 변환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algn="ctr"/>
            <a:endParaRPr lang="ko-KR" altLang="en-US" sz="1400" dirty="0">
              <a:solidFill>
                <a:schemeClr val="accent5">
                  <a:lumMod val="60000"/>
                  <a:lumOff val="4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0AB9A01-55F6-6B6C-7FB0-E070FDF002F6}"/>
              </a:ext>
            </a:extLst>
          </p:cNvPr>
          <p:cNvSpPr/>
          <p:nvPr/>
        </p:nvSpPr>
        <p:spPr>
          <a:xfrm>
            <a:off x="8975772" y="1310883"/>
            <a:ext cx="1921916" cy="156185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4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단계 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: 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테스트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>
              <a:lnSpc>
                <a:spcPct val="150000"/>
              </a:lnSpc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품질 검증 및 논문 준비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성능 테스트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문화적 검증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171450" marR="0" lvl="0" indent="-1714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논문 구상 및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작성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014C9F5-E21C-959E-C70F-CE459E9FE553}"/>
              </a:ext>
            </a:extLst>
          </p:cNvPr>
          <p:cNvSpPr/>
          <p:nvPr/>
        </p:nvSpPr>
        <p:spPr>
          <a:xfrm>
            <a:off x="3143944" y="1680136"/>
            <a:ext cx="425044" cy="372656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D0B214A7-6A4D-C53B-B60D-C0DB75C6FBDE}"/>
              </a:ext>
            </a:extLst>
          </p:cNvPr>
          <p:cNvSpPr/>
          <p:nvPr/>
        </p:nvSpPr>
        <p:spPr>
          <a:xfrm>
            <a:off x="5907074" y="1693306"/>
            <a:ext cx="425044" cy="372656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D2EC4C63-250A-49EB-2FA3-7171112B3223}"/>
              </a:ext>
            </a:extLst>
          </p:cNvPr>
          <p:cNvSpPr/>
          <p:nvPr/>
        </p:nvSpPr>
        <p:spPr>
          <a:xfrm>
            <a:off x="8527964" y="1678457"/>
            <a:ext cx="425044" cy="372656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31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120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나눔스퀘어OTF</vt:lpstr>
      <vt:lpstr>나눔스퀘어OTF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표수현</dc:creator>
  <cp:lastModifiedBy>표수현</cp:lastModifiedBy>
  <cp:revision>4</cp:revision>
  <dcterms:created xsi:type="dcterms:W3CDTF">2025-09-29T23:56:26Z</dcterms:created>
  <dcterms:modified xsi:type="dcterms:W3CDTF">2025-09-30T12:35:18Z</dcterms:modified>
</cp:coreProperties>
</file>